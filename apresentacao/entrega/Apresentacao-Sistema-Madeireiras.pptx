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a56b6c57a464f" /><Relationship Type="http://schemas.openxmlformats.org/officeDocument/2006/relationships/extended-properties" Target="/docProps/app.xml" Id="R7747fa40deab496f" /><Relationship Type="http://schemas.openxmlformats.org/officeDocument/2006/relationships/officeDocument" Target="/ppt/presentation.xml" Id="Rd648aee468d4409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19bbc351249432e"/>
  </p:sldMasterIdLst>
  <p:notesMasterIdLst>
    <p:notesMasterId xmlns:r="http://schemas.openxmlformats.org/officeDocument/2006/relationships" r:id="R7c757abeaf9243de"/>
  </p:notesMasterIdLst>
  <p:sldIdLst>
    <p:sldId xmlns:r="http://schemas.openxmlformats.org/officeDocument/2006/relationships" id="256" r:id="R7531a940743e4ea3"/>
    <p:sldId xmlns:r="http://schemas.openxmlformats.org/officeDocument/2006/relationships" id="257" r:id="R7556ecc2896f4f82"/>
    <p:sldId xmlns:r="http://schemas.openxmlformats.org/officeDocument/2006/relationships" id="258" r:id="Rb48973f5a1014559"/>
    <p:sldId xmlns:r="http://schemas.openxmlformats.org/officeDocument/2006/relationships" id="259" r:id="Rccfc28c4b4ce443b"/>
    <p:sldId xmlns:r="http://schemas.openxmlformats.org/officeDocument/2006/relationships" id="260" r:id="R0b35ba84fc494284"/>
    <p:sldId xmlns:r="http://schemas.openxmlformats.org/officeDocument/2006/relationships" id="261" r:id="R63665828a00e4955"/>
    <p:sldId xmlns:r="http://schemas.openxmlformats.org/officeDocument/2006/relationships" id="262" r:id="R703292125a384d2d"/>
    <p:sldId xmlns:r="http://schemas.openxmlformats.org/officeDocument/2006/relationships" id="263" r:id="Rb9989d3035784afd"/>
    <p:sldId xmlns:r="http://schemas.openxmlformats.org/officeDocument/2006/relationships" id="264" r:id="R4e6dcc90824d4581"/>
    <p:sldId xmlns:r="http://schemas.openxmlformats.org/officeDocument/2006/relationships" id="265" r:id="Rcf1507d1c44946af"/>
    <p:sldId xmlns:r="http://schemas.openxmlformats.org/officeDocument/2006/relationships" id="266" r:id="Rb4f9e5d230084081"/>
    <p:sldId xmlns:r="http://schemas.openxmlformats.org/officeDocument/2006/relationships" id="267" r:id="R65bdf2849c554b8b"/>
    <p:sldId xmlns:r="http://schemas.openxmlformats.org/officeDocument/2006/relationships" id="268" r:id="R73a8bc9a861b4bed"/>
    <p:sldId xmlns:r="http://schemas.openxmlformats.org/officeDocument/2006/relationships" id="269" r:id="Ra514b277d0a845ff"/>
    <p:sldId xmlns:r="http://schemas.openxmlformats.org/officeDocument/2006/relationships" id="270" r:id="Rfc66d2dd8fc141f3"/>
    <p:sldId xmlns:r="http://schemas.openxmlformats.org/officeDocument/2006/relationships" id="271" r:id="R0d7676063c32403d"/>
    <p:sldId xmlns:r="http://schemas.openxmlformats.org/officeDocument/2006/relationships" id="272" r:id="R8bcb673ca9804c2b"/>
    <p:sldId xmlns:r="http://schemas.openxmlformats.org/officeDocument/2006/relationships" id="273" r:id="R33e7b62ac08c47cc"/>
    <p:sldId xmlns:r="http://schemas.openxmlformats.org/officeDocument/2006/relationships" id="274" r:id="R1e4e8503efad41f8"/>
    <p:sldId xmlns:r="http://schemas.openxmlformats.org/officeDocument/2006/relationships" id="275" r:id="R4dfe8b1a1b39410a"/>
    <p:sldId xmlns:r="http://schemas.openxmlformats.org/officeDocument/2006/relationships" id="276" r:id="R5f2e6fb053954dc1"/>
    <p:sldId xmlns:r="http://schemas.openxmlformats.org/officeDocument/2006/relationships" id="277" r:id="R09a2e750062d4354"/>
    <p:sldId xmlns:r="http://schemas.openxmlformats.org/officeDocument/2006/relationships" id="278" r:id="R3f8a4be7fb6f4427"/>
    <p:sldId xmlns:r="http://schemas.openxmlformats.org/officeDocument/2006/relationships" id="279" r:id="R89fbd0fcfede4f98"/>
    <p:sldId xmlns:r="http://schemas.openxmlformats.org/officeDocument/2006/relationships" id="280" r:id="R80c45794af65446b"/>
    <p:sldId xmlns:r="http://schemas.openxmlformats.org/officeDocument/2006/relationships" id="281" r:id="R6c7ce58f13f44446"/>
    <p:sldId xmlns:r="http://schemas.openxmlformats.org/officeDocument/2006/relationships" id="282" r:id="R4419f02b0c1d4ad9"/>
    <p:sldId xmlns:r="http://schemas.openxmlformats.org/officeDocument/2006/relationships" id="283" r:id="R0da7d688ee224ed7"/>
    <p:sldId xmlns:r="http://schemas.openxmlformats.org/officeDocument/2006/relationships" id="284" r:id="R1ebb71e9ff3e47f4"/>
    <p:sldId xmlns:r="http://schemas.openxmlformats.org/officeDocument/2006/relationships" id="285" r:id="Re50263062b3c44ea"/>
    <p:sldId xmlns:r="http://schemas.openxmlformats.org/officeDocument/2006/relationships" id="286" r:id="R33272f9fcb5b4113"/>
    <p:sldId xmlns:r="http://schemas.openxmlformats.org/officeDocument/2006/relationships" id="287" r:id="R94e0977542e54dee"/>
    <p:sldId xmlns:r="http://schemas.openxmlformats.org/officeDocument/2006/relationships" id="288" r:id="R0e8dd901d2014b08"/>
    <p:sldId xmlns:r="http://schemas.openxmlformats.org/officeDocument/2006/relationships" id="289" r:id="R977dcfe64c5644ce"/>
    <p:sldId xmlns:r="http://schemas.openxmlformats.org/officeDocument/2006/relationships" id="290" r:id="Ree377dc64a1949a0"/>
    <p:sldId xmlns:r="http://schemas.openxmlformats.org/officeDocument/2006/relationships" id="291" r:id="R03441e239e0441c1"/>
    <p:sldId xmlns:r="http://schemas.openxmlformats.org/officeDocument/2006/relationships" id="292" r:id="R402960af84384902"/>
    <p:sldId xmlns:r="http://schemas.openxmlformats.org/officeDocument/2006/relationships" id="293" r:id="R7cdc5300548a4b8d"/>
    <p:sldId xmlns:r="http://schemas.openxmlformats.org/officeDocument/2006/relationships" id="294" r:id="R4078b4627a3d4c1c"/>
    <p:sldId xmlns:r="http://schemas.openxmlformats.org/officeDocument/2006/relationships" id="295" r:id="R1e7b192bed774907"/>
    <p:sldId xmlns:r="http://schemas.openxmlformats.org/officeDocument/2006/relationships" id="296" r:id="Rca840807f818472d"/>
    <p:sldId xmlns:r="http://schemas.openxmlformats.org/officeDocument/2006/relationships" id="297" r:id="R23f8fa169c8d4e88"/>
    <p:sldId xmlns:r="http://schemas.openxmlformats.org/officeDocument/2006/relationships" id="298" r:id="R8627a5758dff4bfc"/>
    <p:sldId xmlns:r="http://schemas.openxmlformats.org/officeDocument/2006/relationships" id="299" r:id="R2f150ee0de4b4416"/>
    <p:sldId xmlns:r="http://schemas.openxmlformats.org/officeDocument/2006/relationships" id="300" r:id="R0a3a825dac50447c"/>
    <p:sldId xmlns:r="http://schemas.openxmlformats.org/officeDocument/2006/relationships" id="301" r:id="R83e201bc4c7f4258"/>
    <p:sldId xmlns:r="http://schemas.openxmlformats.org/officeDocument/2006/relationships" id="302" r:id="R9696f4eb00114edb"/>
    <p:sldId xmlns:r="http://schemas.openxmlformats.org/officeDocument/2006/relationships" id="303" r:id="Rc8f629c853fd4343"/>
    <p:sldId xmlns:r="http://schemas.openxmlformats.org/officeDocument/2006/relationships" id="304" r:id="R45df131506ab4e5d"/>
    <p:sldId xmlns:r="http://schemas.openxmlformats.org/officeDocument/2006/relationships" id="305" r:id="R6d44366479d9477c"/>
    <p:sldId xmlns:r="http://schemas.openxmlformats.org/officeDocument/2006/relationships" id="306" r:id="R5a06a55282174e54"/>
    <p:sldId xmlns:r="http://schemas.openxmlformats.org/officeDocument/2006/relationships" id="307" r:id="Rf48de6830e9b4162"/>
    <p:sldId xmlns:r="http://schemas.openxmlformats.org/officeDocument/2006/relationships" id="308" r:id="R6be839f118af4977"/>
    <p:sldId xmlns:r="http://schemas.openxmlformats.org/officeDocument/2006/relationships" id="309" r:id="Rbb7061f4bb094e39"/>
    <p:sldId xmlns:r="http://schemas.openxmlformats.org/officeDocument/2006/relationships" id="310" r:id="Rf44b039e3868476a"/>
    <p:sldId xmlns:r="http://schemas.openxmlformats.org/officeDocument/2006/relationships" id="311" r:id="Rc6fcd1113d074ce8"/>
    <p:sldId xmlns:r="http://schemas.openxmlformats.org/officeDocument/2006/relationships" id="312" r:id="Ra3676fbdfe884deb"/>
    <p:sldId xmlns:r="http://schemas.openxmlformats.org/officeDocument/2006/relationships" id="313" r:id="Rb02f8ab7461642a8"/>
    <p:sldId xmlns:r="http://schemas.openxmlformats.org/officeDocument/2006/relationships" id="314" r:id="R032a265383d044b2"/>
    <p:sldId xmlns:r="http://schemas.openxmlformats.org/officeDocument/2006/relationships" id="315" r:id="R3338f868d2ed4d44"/>
    <p:sldId xmlns:r="http://schemas.openxmlformats.org/officeDocument/2006/relationships" id="316" r:id="Rc48263fe99174cb6"/>
    <p:sldId xmlns:r="http://schemas.openxmlformats.org/officeDocument/2006/relationships" id="317" r:id="R576e75c5580f4821"/>
    <p:sldId xmlns:r="http://schemas.openxmlformats.org/officeDocument/2006/relationships" id="318" r:id="Raf356b523f054ad5"/>
    <p:sldId xmlns:r="http://schemas.openxmlformats.org/officeDocument/2006/relationships" id="319" r:id="R4b12bc54a91c4647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696266aa25384a5d"/>
      <p:bold xmlns:r="http://schemas.openxmlformats.org/officeDocument/2006/relationships" r:id="R2d54db2e57df436d"/>
      <p:italic xmlns:r="http://schemas.openxmlformats.org/officeDocument/2006/relationships" r:id="Rd4e3c9d65d6b49e7"/>
      <p:boldItalic xmlns:r="http://schemas.openxmlformats.org/officeDocument/2006/relationships" r:id="R68ae6f2162c347e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28256cad3d4a81" /><Relationship Type="http://schemas.openxmlformats.org/officeDocument/2006/relationships/slideMaster" Target="/ppt/slideMasters/slideMaster1.xml" Id="R519bbc351249432e" /><Relationship Type="http://schemas.openxmlformats.org/officeDocument/2006/relationships/notesMaster" Target="/ppt/notesMasters/notesMaster1.xml" Id="R7c757abeaf9243de" /><Relationship Type="http://schemas.openxmlformats.org/officeDocument/2006/relationships/presProps" Target="/ppt/presProps.xml" Id="Rc0fb7b9d2ce44c9e" /><Relationship Type="http://schemas.openxmlformats.org/officeDocument/2006/relationships/viewProps" Target="/ppt/viewProps.xml" Id="Rccb4faaf81ea45de" /><Relationship Type="http://schemas.openxmlformats.org/officeDocument/2006/relationships/tableStyles" Target="/ppt/tableStyles.xml" Id="R24ed1adfa43f4c9d" /><Relationship Type="http://schemas.openxmlformats.org/officeDocument/2006/relationships/font" Target="/ppt/fonts/font.dat" Id="R696266aa25384a5d" /><Relationship Type="http://schemas.openxmlformats.org/officeDocument/2006/relationships/font" Target="/ppt/fonts/font2.dat" Id="R2d54db2e57df436d" /><Relationship Type="http://schemas.openxmlformats.org/officeDocument/2006/relationships/font" Target="/ppt/fonts/font3.dat" Id="Rd4e3c9d65d6b49e7" /><Relationship Type="http://schemas.openxmlformats.org/officeDocument/2006/relationships/font" Target="/ppt/fonts/font4.dat" Id="R68ae6f2162c347e0" /><Relationship Type="http://schemas.openxmlformats.org/officeDocument/2006/relationships/slide" Target="/ppt/slides/slide1.xml" Id="R7531a940743e4ea3" /><Relationship Type="http://schemas.openxmlformats.org/officeDocument/2006/relationships/slide" Target="/ppt/slides/slide2.xml" Id="R7556ecc2896f4f82" /><Relationship Type="http://schemas.openxmlformats.org/officeDocument/2006/relationships/slide" Target="/ppt/slides/slide3.xml" Id="Rb48973f5a1014559" /><Relationship Type="http://schemas.openxmlformats.org/officeDocument/2006/relationships/slide" Target="/ppt/slides/slide4.xml" Id="Rccfc28c4b4ce443b" /><Relationship Type="http://schemas.openxmlformats.org/officeDocument/2006/relationships/slide" Target="/ppt/slides/slide5.xml" Id="R0b35ba84fc494284" /><Relationship Type="http://schemas.openxmlformats.org/officeDocument/2006/relationships/slide" Target="/ppt/slides/slide6.xml" Id="R63665828a00e4955" /><Relationship Type="http://schemas.openxmlformats.org/officeDocument/2006/relationships/slide" Target="/ppt/slides/slide7.xml" Id="R703292125a384d2d" /><Relationship Type="http://schemas.openxmlformats.org/officeDocument/2006/relationships/slide" Target="/ppt/slides/slide8.xml" Id="Rb9989d3035784afd" /><Relationship Type="http://schemas.openxmlformats.org/officeDocument/2006/relationships/slide" Target="/ppt/slides/slide9.xml" Id="R4e6dcc90824d4581" /><Relationship Type="http://schemas.openxmlformats.org/officeDocument/2006/relationships/slide" Target="/ppt/slides/slide10.xml" Id="Rcf1507d1c44946af" /><Relationship Type="http://schemas.openxmlformats.org/officeDocument/2006/relationships/slide" Target="/ppt/slides/slide11.xml" Id="Rb4f9e5d230084081" /><Relationship Type="http://schemas.openxmlformats.org/officeDocument/2006/relationships/slide" Target="/ppt/slides/slide12.xml" Id="R65bdf2849c554b8b" /><Relationship Type="http://schemas.openxmlformats.org/officeDocument/2006/relationships/slide" Target="/ppt/slides/slide13.xml" Id="R73a8bc9a861b4bed" /><Relationship Type="http://schemas.openxmlformats.org/officeDocument/2006/relationships/slide" Target="/ppt/slides/slide14.xml" Id="Ra514b277d0a845ff" /><Relationship Type="http://schemas.openxmlformats.org/officeDocument/2006/relationships/slide" Target="/ppt/slides/slide15.xml" Id="Rfc66d2dd8fc141f3" /><Relationship Type="http://schemas.openxmlformats.org/officeDocument/2006/relationships/slide" Target="/ppt/slides/slide16.xml" Id="R0d7676063c32403d" /><Relationship Type="http://schemas.openxmlformats.org/officeDocument/2006/relationships/slide" Target="/ppt/slides/slide17.xml" Id="R8bcb673ca9804c2b" /><Relationship Type="http://schemas.openxmlformats.org/officeDocument/2006/relationships/slide" Target="/ppt/slides/slide18.xml" Id="R33e7b62ac08c47cc" /><Relationship Type="http://schemas.openxmlformats.org/officeDocument/2006/relationships/slide" Target="/ppt/slides/slide19.xml" Id="R1e4e8503efad41f8" /><Relationship Type="http://schemas.openxmlformats.org/officeDocument/2006/relationships/slide" Target="/ppt/slides/slide20.xml" Id="R4dfe8b1a1b39410a" /><Relationship Type="http://schemas.openxmlformats.org/officeDocument/2006/relationships/slide" Target="/ppt/slides/slide21.xml" Id="R5f2e6fb053954dc1" /><Relationship Type="http://schemas.openxmlformats.org/officeDocument/2006/relationships/slide" Target="/ppt/slides/slide22.xml" Id="R09a2e750062d4354" /><Relationship Type="http://schemas.openxmlformats.org/officeDocument/2006/relationships/slide" Target="/ppt/slides/slide23.xml" Id="R3f8a4be7fb6f4427" /><Relationship Type="http://schemas.openxmlformats.org/officeDocument/2006/relationships/slide" Target="/ppt/slides/slide24.xml" Id="R89fbd0fcfede4f98" /><Relationship Type="http://schemas.openxmlformats.org/officeDocument/2006/relationships/slide" Target="/ppt/slides/slide25.xml" Id="R80c45794af65446b" /><Relationship Type="http://schemas.openxmlformats.org/officeDocument/2006/relationships/slide" Target="/ppt/slides/slide26.xml" Id="R6c7ce58f13f44446" /><Relationship Type="http://schemas.openxmlformats.org/officeDocument/2006/relationships/slide" Target="/ppt/slides/slide27.xml" Id="R4419f02b0c1d4ad9" /><Relationship Type="http://schemas.openxmlformats.org/officeDocument/2006/relationships/slide" Target="/ppt/slides/slide28.xml" Id="R0da7d688ee224ed7" /><Relationship Type="http://schemas.openxmlformats.org/officeDocument/2006/relationships/slide" Target="/ppt/slides/slide29.xml" Id="R1ebb71e9ff3e47f4" /><Relationship Type="http://schemas.openxmlformats.org/officeDocument/2006/relationships/slide" Target="/ppt/slides/slide30.xml" Id="Re50263062b3c44ea" /><Relationship Type="http://schemas.openxmlformats.org/officeDocument/2006/relationships/slide" Target="/ppt/slides/slide31.xml" Id="R33272f9fcb5b4113" /><Relationship Type="http://schemas.openxmlformats.org/officeDocument/2006/relationships/slide" Target="/ppt/slides/slide32.xml" Id="R94e0977542e54dee" /><Relationship Type="http://schemas.openxmlformats.org/officeDocument/2006/relationships/slide" Target="/ppt/slides/slide33.xml" Id="R0e8dd901d2014b08" /><Relationship Type="http://schemas.openxmlformats.org/officeDocument/2006/relationships/slide" Target="/ppt/slides/slide34.xml" Id="R977dcfe64c5644ce" /><Relationship Type="http://schemas.openxmlformats.org/officeDocument/2006/relationships/slide" Target="/ppt/slides/slide35.xml" Id="Ree377dc64a1949a0" /><Relationship Type="http://schemas.openxmlformats.org/officeDocument/2006/relationships/slide" Target="/ppt/slides/slide36.xml" Id="R03441e239e0441c1" /><Relationship Type="http://schemas.openxmlformats.org/officeDocument/2006/relationships/slide" Target="/ppt/slides/slide37.xml" Id="R402960af84384902" /><Relationship Type="http://schemas.openxmlformats.org/officeDocument/2006/relationships/slide" Target="/ppt/slides/slide38.xml" Id="R7cdc5300548a4b8d" /><Relationship Type="http://schemas.openxmlformats.org/officeDocument/2006/relationships/slide" Target="/ppt/slides/slide39.xml" Id="R4078b4627a3d4c1c" /><Relationship Type="http://schemas.openxmlformats.org/officeDocument/2006/relationships/slide" Target="/ppt/slides/slide40.xml" Id="R1e7b192bed774907" /><Relationship Type="http://schemas.openxmlformats.org/officeDocument/2006/relationships/slide" Target="/ppt/slides/slide41.xml" Id="Rca840807f818472d" /><Relationship Type="http://schemas.openxmlformats.org/officeDocument/2006/relationships/slide" Target="/ppt/slides/slide42.xml" Id="R23f8fa169c8d4e88" /><Relationship Type="http://schemas.openxmlformats.org/officeDocument/2006/relationships/slide" Target="/ppt/slides/slide43.xml" Id="R8627a5758dff4bfc" /><Relationship Type="http://schemas.openxmlformats.org/officeDocument/2006/relationships/slide" Target="/ppt/slides/slide44.xml" Id="R2f150ee0de4b4416" /><Relationship Type="http://schemas.openxmlformats.org/officeDocument/2006/relationships/slide" Target="/ppt/slides/slide45.xml" Id="R0a3a825dac50447c" /><Relationship Type="http://schemas.openxmlformats.org/officeDocument/2006/relationships/slide" Target="/ppt/slides/slide46.xml" Id="R83e201bc4c7f4258" /><Relationship Type="http://schemas.openxmlformats.org/officeDocument/2006/relationships/slide" Target="/ppt/slides/slide47.xml" Id="R9696f4eb00114edb" /><Relationship Type="http://schemas.openxmlformats.org/officeDocument/2006/relationships/slide" Target="/ppt/slides/slide48.xml" Id="Rc8f629c853fd4343" /><Relationship Type="http://schemas.openxmlformats.org/officeDocument/2006/relationships/slide" Target="/ppt/slides/slide49.xml" Id="R45df131506ab4e5d" /><Relationship Type="http://schemas.openxmlformats.org/officeDocument/2006/relationships/slide" Target="/ppt/slides/slide50.xml" Id="R6d44366479d9477c" /><Relationship Type="http://schemas.openxmlformats.org/officeDocument/2006/relationships/slide" Target="/ppt/slides/slide51.xml" Id="R5a06a55282174e54" /><Relationship Type="http://schemas.openxmlformats.org/officeDocument/2006/relationships/slide" Target="/ppt/slides/slide52.xml" Id="Rf48de6830e9b4162" /><Relationship Type="http://schemas.openxmlformats.org/officeDocument/2006/relationships/slide" Target="/ppt/slides/slide53.xml" Id="R6be839f118af4977" /><Relationship Type="http://schemas.openxmlformats.org/officeDocument/2006/relationships/slide" Target="/ppt/slides/slide54.xml" Id="Rbb7061f4bb094e39" /><Relationship Type="http://schemas.openxmlformats.org/officeDocument/2006/relationships/slide" Target="/ppt/slides/slide55.xml" Id="Rf44b039e3868476a" /><Relationship Type="http://schemas.openxmlformats.org/officeDocument/2006/relationships/slide" Target="/ppt/slides/slide56.xml" Id="Rc6fcd1113d074ce8" /><Relationship Type="http://schemas.openxmlformats.org/officeDocument/2006/relationships/slide" Target="/ppt/slides/slide57.xml" Id="Ra3676fbdfe884deb" /><Relationship Type="http://schemas.openxmlformats.org/officeDocument/2006/relationships/slide" Target="/ppt/slides/slide58.xml" Id="Rb02f8ab7461642a8" /><Relationship Type="http://schemas.openxmlformats.org/officeDocument/2006/relationships/slide" Target="/ppt/slides/slide59.xml" Id="R032a265383d044b2" /><Relationship Type="http://schemas.openxmlformats.org/officeDocument/2006/relationships/slide" Target="/ppt/slides/slide60.xml" Id="R3338f868d2ed4d44" /><Relationship Type="http://schemas.openxmlformats.org/officeDocument/2006/relationships/slide" Target="/ppt/slides/slide61.xml" Id="Rc48263fe99174cb6" /><Relationship Type="http://schemas.openxmlformats.org/officeDocument/2006/relationships/slide" Target="/ppt/slides/slide62.xml" Id="R576e75c5580f4821" /><Relationship Type="http://schemas.openxmlformats.org/officeDocument/2006/relationships/slide" Target="/ppt/slides/slide63.xml" Id="Raf356b523f054ad5" /><Relationship Type="http://schemas.openxmlformats.org/officeDocument/2006/relationships/slide" Target="/ppt/slides/slide64.xml" Id="R4b12bc54a91c46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a40a54cfc34e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20a8da23ea4ac5" /><Relationship Type="http://schemas.openxmlformats.org/officeDocument/2006/relationships/notesMaster" Target="/ppt/notesMasters/notesMaster1.xml" Id="R3b761809771e4d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82462d41234379" /><Relationship Type="http://schemas.openxmlformats.org/officeDocument/2006/relationships/notesMaster" Target="/ppt/notesMasters/notesMaster1.xml" Id="R51796cfdbd8545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03711225c045a4" /><Relationship Type="http://schemas.openxmlformats.org/officeDocument/2006/relationships/notesMaster" Target="/ppt/notesMasters/notesMaster1.xml" Id="R02b866f3fe474b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9f4da37c014402" /><Relationship Type="http://schemas.openxmlformats.org/officeDocument/2006/relationships/notesMaster" Target="/ppt/notesMasters/notesMaster1.xml" Id="R8dbf2f9411ab48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399177add34c72" /><Relationship Type="http://schemas.openxmlformats.org/officeDocument/2006/relationships/notesMaster" Target="/ppt/notesMasters/notesMaster1.xml" Id="R452c997f44ca47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5d787375f04540" /><Relationship Type="http://schemas.openxmlformats.org/officeDocument/2006/relationships/notesMaster" Target="/ppt/notesMasters/notesMaster1.xml" Id="R7ad0b2995d4340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21578f7c7b4f48" /><Relationship Type="http://schemas.openxmlformats.org/officeDocument/2006/relationships/notesMaster" Target="/ppt/notesMasters/notesMaster1.xml" Id="Raa7415b0ba1d4d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40971ce57a4d53" /><Relationship Type="http://schemas.openxmlformats.org/officeDocument/2006/relationships/notesMaster" Target="/ppt/notesMasters/notesMaster1.xml" Id="R0aa4e57ad5594d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0362b9ce57411a" /><Relationship Type="http://schemas.openxmlformats.org/officeDocument/2006/relationships/notesMaster" Target="/ppt/notesMasters/notesMaster1.xml" Id="Re58b7ea44aaf48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7630de7e494bf1" /><Relationship Type="http://schemas.openxmlformats.org/officeDocument/2006/relationships/notesMaster" Target="/ppt/notesMasters/notesMaster1.xml" Id="R663d4758d3d24f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db01e0e7e24122" /><Relationship Type="http://schemas.openxmlformats.org/officeDocument/2006/relationships/notesMaster" Target="/ppt/notesMasters/notesMaster1.xml" Id="R23a22d0da00a46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97688fa598460a" /><Relationship Type="http://schemas.openxmlformats.org/officeDocument/2006/relationships/notesMaster" Target="/ppt/notesMasters/notesMaster1.xml" Id="R6f039174920a4e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27420abbd64719" /><Relationship Type="http://schemas.openxmlformats.org/officeDocument/2006/relationships/notesMaster" Target="/ppt/notesMasters/notesMaster1.xml" Id="Rc4a684b630e44a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719ca4f6094d6e" /><Relationship Type="http://schemas.openxmlformats.org/officeDocument/2006/relationships/notesMaster" Target="/ppt/notesMasters/notesMaster1.xml" Id="Rc5eaf895ebff4b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bb572013924f50" /><Relationship Type="http://schemas.openxmlformats.org/officeDocument/2006/relationships/notesMaster" Target="/ppt/notesMasters/notesMaster1.xml" Id="R80955c5daa784b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2859c35c574ed6" /><Relationship Type="http://schemas.openxmlformats.org/officeDocument/2006/relationships/notesMaster" Target="/ppt/notesMasters/notesMaster1.xml" Id="Rc06571feb5d649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2e94d6eedb4cc8" /><Relationship Type="http://schemas.openxmlformats.org/officeDocument/2006/relationships/notesMaster" Target="/ppt/notesMasters/notesMaster1.xml" Id="R134c9db49aae4f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e0b77adce24228" /><Relationship Type="http://schemas.openxmlformats.org/officeDocument/2006/relationships/notesMaster" Target="/ppt/notesMasters/notesMaster1.xml" Id="R761e039676aa4d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eef0970bcdd4c86" /><Relationship Type="http://schemas.openxmlformats.org/officeDocument/2006/relationships/notesMaster" Target="/ppt/notesMasters/notesMaster1.xml" Id="R497b49b9f7bc47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3802c7722d9477c" /><Relationship Type="http://schemas.openxmlformats.org/officeDocument/2006/relationships/notesMaster" Target="/ppt/notesMasters/notesMaster1.xml" Id="R5469216a3f884ff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ee2bc2b9ca44bc" /><Relationship Type="http://schemas.openxmlformats.org/officeDocument/2006/relationships/notesMaster" Target="/ppt/notesMasters/notesMaster1.xml" Id="R06953b784a494d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9bbd4418be474a" /><Relationship Type="http://schemas.openxmlformats.org/officeDocument/2006/relationships/notesMaster" Target="/ppt/notesMasters/notesMaster1.xml" Id="R5571f91da6c744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4599e5198c4efc" /><Relationship Type="http://schemas.openxmlformats.org/officeDocument/2006/relationships/notesMaster" Target="/ppt/notesMasters/notesMaster1.xml" Id="Rec253cf98bce44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d48540b0c8e4a31" /><Relationship Type="http://schemas.openxmlformats.org/officeDocument/2006/relationships/notesMaster" Target="/ppt/notesMasters/notesMaster1.xml" Id="Ra6707a75547f428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2ad9c694d894a95" /><Relationship Type="http://schemas.openxmlformats.org/officeDocument/2006/relationships/notesMaster" Target="/ppt/notesMasters/notesMaster1.xml" Id="Rd9b707e382fe432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de1be011ab4c9b" /><Relationship Type="http://schemas.openxmlformats.org/officeDocument/2006/relationships/notesMaster" Target="/ppt/notesMasters/notesMaster1.xml" Id="Ra4de6207aa7a466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58cf2cef18c4018" /><Relationship Type="http://schemas.openxmlformats.org/officeDocument/2006/relationships/notesMaster" Target="/ppt/notesMasters/notesMaster1.xml" Id="R58817af303e8490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9e3ffc7432d4f0e" /><Relationship Type="http://schemas.openxmlformats.org/officeDocument/2006/relationships/notesMaster" Target="/ppt/notesMasters/notesMaster1.xml" Id="Re7bfdcfdb2ad408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045b0fdd2f2477e" /><Relationship Type="http://schemas.openxmlformats.org/officeDocument/2006/relationships/notesMaster" Target="/ppt/notesMasters/notesMaster1.xml" Id="Rcc10a594b43e431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887f3dfcf024d03" /><Relationship Type="http://schemas.openxmlformats.org/officeDocument/2006/relationships/notesMaster" Target="/ppt/notesMasters/notesMaster1.xml" Id="Rfd02d76f63cb459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a32d9a5c1b4bbb" /><Relationship Type="http://schemas.openxmlformats.org/officeDocument/2006/relationships/notesMaster" Target="/ppt/notesMasters/notesMaster1.xml" Id="R59debb75ba824cb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4c888f27a3845cb" /><Relationship Type="http://schemas.openxmlformats.org/officeDocument/2006/relationships/notesMaster" Target="/ppt/notesMasters/notesMaster1.xml" Id="R0f5d4d18817c4c9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10d7915d5fa4b47" /><Relationship Type="http://schemas.openxmlformats.org/officeDocument/2006/relationships/notesMaster" Target="/ppt/notesMasters/notesMaster1.xml" Id="R52be5f0c6e1743b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84052ab4b594934" /><Relationship Type="http://schemas.openxmlformats.org/officeDocument/2006/relationships/notesMaster" Target="/ppt/notesMasters/notesMaster1.xml" Id="Rafad17bbc5c7465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25141c6dc4448f2" /><Relationship Type="http://schemas.openxmlformats.org/officeDocument/2006/relationships/notesMaster" Target="/ppt/notesMasters/notesMaster1.xml" Id="R960aa428dced4d2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d27e0f306a640a6" /><Relationship Type="http://schemas.openxmlformats.org/officeDocument/2006/relationships/notesMaster" Target="/ppt/notesMasters/notesMaster1.xml" Id="R2ff54abb7fb044b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f37d2a39a224743" /><Relationship Type="http://schemas.openxmlformats.org/officeDocument/2006/relationships/notesMaster" Target="/ppt/notesMasters/notesMaster1.xml" Id="Rb36da7329655403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481b33ae95c4903" /><Relationship Type="http://schemas.openxmlformats.org/officeDocument/2006/relationships/notesMaster" Target="/ppt/notesMasters/notesMaster1.xml" Id="R78aa4404e88248f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97e0801a30d4718" /><Relationship Type="http://schemas.openxmlformats.org/officeDocument/2006/relationships/notesMaster" Target="/ppt/notesMasters/notesMaster1.xml" Id="R10ac9a0a52434ff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da69630028241e6" /><Relationship Type="http://schemas.openxmlformats.org/officeDocument/2006/relationships/notesMaster" Target="/ppt/notesMasters/notesMaster1.xml" Id="Rd68cd8a5b1e948c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621217b88ad40fc" /><Relationship Type="http://schemas.openxmlformats.org/officeDocument/2006/relationships/notesMaster" Target="/ppt/notesMasters/notesMaster1.xml" Id="R0b4f595853a143d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8fda90086504de9" /><Relationship Type="http://schemas.openxmlformats.org/officeDocument/2006/relationships/notesMaster" Target="/ppt/notesMasters/notesMaster1.xml" Id="R89d294c9afe3413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8799fa98f7a4ac5" /><Relationship Type="http://schemas.openxmlformats.org/officeDocument/2006/relationships/notesMaster" Target="/ppt/notesMasters/notesMaster1.xml" Id="R0ed0d6e48e5648f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04a4de180cb4c07" /><Relationship Type="http://schemas.openxmlformats.org/officeDocument/2006/relationships/notesMaster" Target="/ppt/notesMasters/notesMaster1.xml" Id="R358557113b3044e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0323449da504819" /><Relationship Type="http://schemas.openxmlformats.org/officeDocument/2006/relationships/notesMaster" Target="/ppt/notesMasters/notesMaster1.xml" Id="Rfcd254b101d04aa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c9c2ba09fc64012" /><Relationship Type="http://schemas.openxmlformats.org/officeDocument/2006/relationships/notesMaster" Target="/ppt/notesMasters/notesMaster1.xml" Id="R67c8073371fa478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cb3bbdad6cf4422" /><Relationship Type="http://schemas.openxmlformats.org/officeDocument/2006/relationships/notesMaster" Target="/ppt/notesMasters/notesMaster1.xml" Id="Red5fbc82a22b484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7e3291559cb4b9c" /><Relationship Type="http://schemas.openxmlformats.org/officeDocument/2006/relationships/notesMaster" Target="/ppt/notesMasters/notesMaster1.xml" Id="R0178f32574a8433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6fc7f753ea24dba" /><Relationship Type="http://schemas.openxmlformats.org/officeDocument/2006/relationships/notesMaster" Target="/ppt/notesMasters/notesMaster1.xml" Id="Rbe7629b0fbee4e7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89854ecddd74744" /><Relationship Type="http://schemas.openxmlformats.org/officeDocument/2006/relationships/notesMaster" Target="/ppt/notesMasters/notesMaster1.xml" Id="Rcc5c03cbd05c4dc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8e48f4d475b4a47" /><Relationship Type="http://schemas.openxmlformats.org/officeDocument/2006/relationships/notesMaster" Target="/ppt/notesMasters/notesMaster1.xml" Id="Rf4bf090b5ce84a1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93a9c8d89d740a0" /><Relationship Type="http://schemas.openxmlformats.org/officeDocument/2006/relationships/notesMaster" Target="/ppt/notesMasters/notesMaster1.xml" Id="Rd648fab1aaf142f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e9388de51a843ca" /><Relationship Type="http://schemas.openxmlformats.org/officeDocument/2006/relationships/notesMaster" Target="/ppt/notesMasters/notesMaster1.xml" Id="R8ac40a4ce15b437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3936368ba8f46f4" /><Relationship Type="http://schemas.openxmlformats.org/officeDocument/2006/relationships/notesMaster" Target="/ppt/notesMasters/notesMaster1.xml" Id="R3be9fd418fac413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597ea9a85084e84" /><Relationship Type="http://schemas.openxmlformats.org/officeDocument/2006/relationships/notesMaster" Target="/ppt/notesMasters/notesMaster1.xml" Id="R9bf4ad80a2b9493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380133744e041b7" /><Relationship Type="http://schemas.openxmlformats.org/officeDocument/2006/relationships/notesMaster" Target="/ppt/notesMasters/notesMaster1.xml" Id="Rcaa9932c6d0a449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b707694ab434f65" /><Relationship Type="http://schemas.openxmlformats.org/officeDocument/2006/relationships/notesMaster" Target="/ppt/notesMasters/notesMaster1.xml" Id="R77ea02d75ac74bc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4dc4916cd8c444f" /><Relationship Type="http://schemas.openxmlformats.org/officeDocument/2006/relationships/notesMaster" Target="/ppt/notesMasters/notesMaster1.xml" Id="Rf6a5eacb38f3401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807245878314360" /><Relationship Type="http://schemas.openxmlformats.org/officeDocument/2006/relationships/notesMaster" Target="/ppt/notesMasters/notesMaster1.xml" Id="Rf98dbea27ce643c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c34f07fce0d43e8" /><Relationship Type="http://schemas.openxmlformats.org/officeDocument/2006/relationships/notesMaster" Target="/ppt/notesMasters/notesMaster1.xml" Id="R314ab97153c94e1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b9c7017b81548fa" /><Relationship Type="http://schemas.openxmlformats.org/officeDocument/2006/relationships/notesMaster" Target="/ppt/notesMasters/notesMaster1.xml" Id="R33a5b2e9e3b942f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0b947dc371b40cd" /><Relationship Type="http://schemas.openxmlformats.org/officeDocument/2006/relationships/notesMaster" Target="/ppt/notesMasters/notesMaster1.xml" Id="R6b1af963621441b8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8c5faed641342e9" /><Relationship Type="http://schemas.openxmlformats.org/officeDocument/2006/relationships/notesMaster" Target="/ppt/notesMasters/notesMaster1.xml" Id="Ra1de05d526cb4baa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f897fff2ca349ae" /><Relationship Type="http://schemas.openxmlformats.org/officeDocument/2006/relationships/notesMaster" Target="/ppt/notesMasters/notesMaster1.xml" Id="R5df14219290d41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sistema como uma ferramenta para organizar a rotina entre o atendimento, a produção e a entrega. Todas as telas são reais da versão local. Os nomes e números são fictícios e coerentes entre si. A imagem de capa é uma ilustração gerada por IA, não uma instalação de um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Versão local em 15/09/2026. Capa gerada com image_gen..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 conversa perguntando como a madeireira responde hoje a essas perguntas. Mostre que pedidos, capacidade, serviços e entregas têm telas próprias. Não prometa ganhos percentuais, redução de custos ou prazos de implantação que ainda não foram medidos.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Telas e regras do sistema local.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diferença entre pedido, plano e serviço. Um pedido pode ter vários planos e cada plano pode ter vários serviços. O fluxo Direto para entrega segue para expedição sem etapas de 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Telas e regras do sistema local.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 pedido 2401 durante a explicação de cadastro, planos, serviços, histórico e acompanhamento. Os planos 2401-1 e 2401-2 têm respectivamente 8 e 4 chapas. O cadastro contém 24 pedidos, incluindo um cancelado. Os 57 serviços incluem três cancelados. O exemplo demonstra funcionalidades e não resultados reais de uma madeireira.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Telas e regras do sistema local.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Principal &gt; Dashboard. O painel principal resume a carteira por status e oferece atalhos. Na base, há 24 pedidos, incluindo sete entregues e um cancelado. Atrasados são um recorte dos pedidos, por isso não devem ser somados como uma situação independente. Abra um pedido prioritário para investigar a causa.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frontend/src/pages/Dashboard.jsx.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primeira parte mostra como cadastrar e consultar um pedido e como os limites orientam a promessa de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Menu e fluxo do sistema.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Operação &gt; Pedidos. Digite 2401 no campo de busca para localizar Marcenaria Aurora. A listagem mantém as informações de consulta e as ações do registro. Use Editar pedido para abrir o formulário. Para demonstrar sem alterar registros, apenas navegue e não salve mudanças.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frontend/src/pages/Pedidos.jsx.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Pedidos &gt; Novo pedido. Primeiro escolha a origem. Pedido de outro sistema exige informar manualmente o número externo, sem implicar integração automática. Em seguida escolha se haverá produção. Pedido com produção terá planos e serviços. Direto para entrega segue o fluxo de expedição.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frontend/src/pages/Pedidos.jsx.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o formulário em Dados principais. O exemplo usa Marcenaria Aurora, Ana Martins, 18/09/2026 e R$ 4.140,00. Confira os campos obrigatórios antes de salvar. A data prevista também é a referência usada pela capacidade diária. A quantidade de chapas de produção vem dos planos vinculados.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frontend/src/pages/Pedidos.jsx.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bloco Entrega, Empresa entrega habilita responsável pelo frete, rota, valor, recebedor, contato e endereço. Frete da loja e frete do cliente são categorias separadas do responsável pelo frete. Cliente retira é uma opção de recebimento distinta, que não ocupa vaga de frete. O sistema considera um pedido com entrega como um registro de frete, independentemente da quantidade de chapas.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frontend/src/pages/Pedidos.jsx; frontend/src/components/CapacidadeDiaria.jsx.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painel Capacidade da data de entrega apresenta registros já salvos. Nesta data, há uma vaga de frete da loja, três vagas de frete do cliente e cinco chapas disponíveis. O total já inclui o pedido em edição quando ele pertence à data. Alterações ainda não salvas não entram na indicação. Atualizar disponibilidade busca os números novamente. Ao salvar, o servidor verifica a capacidade de novo.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frontend/src/components/CapacidadeDiaria.jsx; backend/src.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números exemplificam a regra configurada em 90 chapas. A contagem soma os planos dos pedidos com produção na mesma data prevista de entrega e ignora cancelados. Um pedido novo ainda sem plano não reserva uma quantidade de chapas desconhecida. A validação ocorre quando os planos passam a ocupar a capacidade. A mudança de data verifica as chapas já vinculadas. Não é apenas um alerta no relatório. O servidor impede o salvamento que aumenta a ocupação além do limite. Reduzir a ocupação ou editar sem aumentá-la continua permitido.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Telas e regras do sistema local.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limite usa a data prevista de entrega do pedido e o responsável pelo frete. Há uma contagem para loja e outra para cliente. São cotas independentes. O sistema confere o pedido ao salvar e nas mudanças que aumentam a ocupação, como trocar a data ou o responsável. Pedidos cancelados não contam. Entregues continuam contando na data prevista. Mesmo administradores respeitam o bloqueio, mas podem editar a configuração.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Telas e regras do sistema local.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Pedidos &gt; detalhes. O histórico reúne eventos como criação do pedido, criação de plano e mudanças de situação, com data e usuário. No exemplo, o pedido nasceu em 01/09, recebeu planos em 03/09 e tem registro de mudança para produção em 12/09. Use o histórico para explicar uma alteração e localizar o responsável pelo registro.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frontend/src/pages/DetalhePedido.jsx.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Agora acompanhe o pedido 2401 em dois planos de corte e nos serviços associados.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Menu e fluxo do sistema.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Operação &gt; Planos de Corte e Serviços. Selecione 2401 e confira cliente, status, entrega e vendedor. O painel mostra 85 chapas programadas e cinco disponíveis para a data. Cadastre cada plano com número único e sua quantidade. Encabeçamento em metros e compra externa complementam o registro quando aplicáveis. O sistema registra os planos, mas esta tela não demonstra otimização automática de 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frontend/src/pages/PlanoCorteServico.jsx.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mesma tela, vá a Serviços do Plano. Marque Corte, Fita de borda e Furação quando o plano exigir essas etapas. Cada serviço aceita observação e operador. Ao criar com operador, o serviço inicia como Iniciado. Sem operador, fica Aberto. Confirme a seleção antes de salvar. Um número digitado com barras permanece um único número de plano, não cria vários registros automaticamente.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frontend/src/pages/PlanoCorteServico.jsx.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seção Planos e Serviços Cadastrados permite conferir o que pertence ao pedido. No exemplo, cada plano tem Corte, Fita de borda e Furação. Evite multiplicar chapas pela quantidade de serviços ao falar do volume físico. O administrador pode editar conforme as regras da tela. Para outros perfis, o cadastro de novos planos tem janela de uma hora a partir do primeiro plano. Pedidos entregues ou cancelados restringem alterações.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frontend/src/pages/PlanoCorteServico.jsx.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Produção &gt; Kanban. Explique que um pedido aparece em vários cartões porque possui serviços em diferentes planos. O painel separa aguardando, em produção e finalizados. As ações são botões nos cartões. Não apresente movimentação por arrastar e soltar. O quadro exclui pedidos entregues e cancelados e atualiza periodicamente enquanto está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frontend/src/pages/Kanban.jsx.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busca 2401. O exemplo tem Corte concluído, Fita de borda em produção e Furação aberta nos dois planos. Iniciar e Concluir registram a evolução. Ações de retorno e reabertura permitem corrigir o andamento conforme as permissões. A transferência de operador pelo administrador solicita justificativa. Demonstre qualquer mudança ao vivo apenas em uma base de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frontend/src/pages/Kanban.jsx.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situação do pedido acompanha o conjunto de seus serviços. Concluir apenas um serviço não significa concluir o pedido inteiro. O fluxo automático considera todos os serviços relacionados. Após a produção, a equipe de expedição ainda precisa registrar as etapas da entrega. Pronto para entrega não significa entregue.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Telas e regras do sistema local.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Modo TV apresenta o acompanhamento da produção em uma visão apropriada para exibição no setor. Use-o como apoio para acompanhar a fila durante o expediente. As ações operacionais continuam nas telas autorizadas aos usuários. A tela usa os mesmos registros, evitando uma lista paralela.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frontend/src/pages/ModoTV.jsx.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Alertas de Produção. Leia a situação indicada e abra o pedido correspondente para entender o problema antes de alterar registros. Os avisos apoiam a priorização. A lista depende dos dados e critérios do sistema, não substitui a conferência da equipe no chão de fábrica.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frontend/src/pages/Alertas.jsx.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parte responde à necessidade de consultar o que já foi entregue, tanto com frete da loja quanto com frete do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Menu e fluxo do sistema.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Operação &gt; Expedição. A equipe consulta os pedidos e executa as ações de expedição conforme a situação atual. Confira se será entrega ou retirada e revise os dados do recebedor. Registre a conclusão somente depois da entrega ou retirada efetiva. A operação alimenta o histórico e os relatórios de pedidos entregues.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frontend/src/pages/Expedicao.jsx.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Entrega. Use a relação para consultar a programação de entregas e seus dados operacionais. A tela de relatório apoia a consulta e impressão. O registro do andamento ocorre na expedição. Confira sempre o escopo e os filtros da tela antes de comparar com outros relatórios.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frontend/src/pages/RelatorioExpedicao.jsx.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Romaneio de Entrega. Mostre a relação de pedidos para apoiar a preparação da saída. Confira endereço, responsável e contatos antes de imprimir. O romaneio ajuda a equipe a levar as informações de entrega. A impressão por si só não deve ser apresentada como confirmação automática da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frontend/src/pages/RomaneioEntrega.jsx.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Pedidos Entregues. Essa é a relação histórica procurada quando a tela operacional mostra apenas pendentes. Combine o filtro de responsável pelo frete com os demais filtros. Consulte separadamente loja e cliente ou mantenha todos. A base ilustrativa contém sete entregues, totalizando R$ 30.870,00. O valor é o total dos pedidos, não apenas o preço do frete.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frontend/src/pages/RelatorioPedidosEntregues.jsx.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página pública de acompanhamento dispensa login do funcionário. O cliente informa número e cinco primeiros dígitos do CPF ou CNPJ cadastrado. O pedido 2401 com documento demonstrativo mostra previsão para 18/09/2026, forma de recebimento e histórico. O link pode ser acessado a partir do detalhe do pedido. A marca BIOMADEIRA que aparece nesta tela corresponde ao nome presente na instância atual.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frontend/src/pages/AcompanharPedido.jsx.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próximos slides funcionam também como um catálogo de consulta. Na apresentação comercial, aprofunde os relatórios ligados às perguntas da madeireira.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Menu e fluxo do sistema.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mapa para escolher os relatórios mais importantes para cada público. Antes de comparar números, alinhe período, status e data de referência. Um relatório pode usar data do pedido e outro pode usar execução do serviço ou previsão de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Telas e regras do sistema local.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Programação de Chapas. O relatório organiza a programação pela data prevista de entrega, a partir do dia atual. Em 18/09/2026, a base tem 85 chapas. A regra do limite usa a mesma ideia de agrupar as chapas dos planos de pedidos com produção por data. Cancelados ficam fora. Entregues permanecem na contagem de sua data prevista. A proteção ao salvar acontece também em pedidos e planos.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frontend/src/pages/RelatorioProgramacaoChapas.jsx.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Consumo de Chapas. A tela oferece bases como data do pedido e datas da produção. No recorte demonstrativo por pedidos, são 240 chapas de produção e 18 inteiras, totalizando 258, excluindo cancelados. A mesma chapa pode passar por Corte, Fita e Furação. Portanto, somar volumes por tipo de serviço duplica o material e não representa o consumo físico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frontend/src/pages/RelatorioConsumoChapas.jsx.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Produção. Os filtros trabalham com serviços. Concluídos usam data de término, iniciados usam início e abertos usam criação conforme a regra da consulta. O tempo decorrido entre início e fim pode incluir noites e outros períodos sem operação. Apresente-o como tempo registrado, não como horas efetivas de máquina.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frontend/src/pages/RelatorioProducao.jsx.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Produtividade. O ranking mostra os serviços atribuídos aos operadores, conclusões e indicadores. Serviços sem operador não compõem uma comparação individual. A quantidade de serviços, sua complexidade e o tempo decorrido precisam de contexto. O tempo registrado não desconta automaticamente pausas ou horas fora do expediente.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frontend/src/pages/ProdutividadeOperadores.jsx.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Serviços. A seleção inicial apresenta apenas pendentes. Na base, são 20 serviços pendentes, sendo 13 abertos e sete iniciados. Desmarcar a opção de somente pendentes permite consultar outras situações conforme os filtros. O relatório ajuda a localizar trabalho específico por tipo ou operador.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frontend/src/pages/RelatorioServicos.jsx.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Pendências. O relatório reúne pedidos sem plano, planos sem serviço e serviços pendentes. São ocorrências, não necessariamente pedidos distintos. A relação demonstrativa inclui pedidos de entrega direta entre os sem plano. Interprete a ocorrência conforme o fluxo do pedido antes de exigir um plano de produção. Use busca, CSV ou impressão disponíveis na tela.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frontend/src/pages/RelatorioPendencias.jsx.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Pedidos em Andamento. Esse relatório considera as situações Aberto, Em separação e Em produção. Ele não representa sozinho toda a carteira ainda não entregue, pois prontos para entrega também pertencem à operação. No exemplo, são 11 pedidos nesse recorte. Use Carteira de Pedidos para a visão mais ampla de pedidos 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frontend/src/pages/RelatorioPedidos.jsx.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Novos &gt; Comercial por Vendedor. O recorte ilustrativo tem 23 pedidos não cancelados e R$ 104.250,00 em valores de pedidos. O ticket médio é R$ 4.532,61. Esses números descrevem a base fictícia e não faturamento fiscal ou recebimento financeiro. Cancelados não entram no cálculo deste relatório.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frontend/src/pages/relatoriosNovos.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Novos &gt; Pontualidade das Entregas. Compare a previsão do pedido com o evento de entrega registrado no histórico. A base possui cinco entregas no prazo em sete avaliadas: 5 ÷ 7 = 71,4%. Registros sem informação histórica suficiente não devem ser tratados como pontuais automaticamente. Esse relatório é a referência para a análise de entregas efetivamente concluídas.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frontend/src/pages/relatoriosNovos.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Novos &gt; Pedidos Parados. O critério está relacionado ao tempo sem mudança de status. Um pedido pode ter alguma atividade registrada sem mudar sua situação. Portanto, a lista é um sinal para investigar, e não prova de ausência total de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frontend/src/pages/relatoriosNovos.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Novos &gt; Clientes. A visão gerencial reúne pedidos, valores e recorrência. Valores de cancelados não compõem as vendas válidas. A informação de última compra pode considerar o histórico completo do cliente, enquanto os totais seguem o recorte. Use o contexto dos filtros antes de comparar clientes.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frontend/src/pages/relatoriosNovos.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Novos &gt; Carteira de Pedidos. A base demonstrativa apresenta 16 ativos, totalizando R$ 73.380,00. A tela ajuda a acompanhar o trabalho ainda aberto e seus prazos. O valor da carteira é o total dos pedidos ativos, não um saldo de contas a receber. Entregues e cancelados ficam fora desse recorte.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frontend/src/pages/relatoriosNovos.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&gt; Auditoria de Frete, disponível ao administrador. Compara o valor padrão da rota ao valor cobrado nos pedidos marcados como frete alterado. São três alterações de R$ 20,00 no exemplo, somando R$ 60,00. A justificativa registrada explica o ajuste. Esse relatório não substitui a relação de entregues ou a contagem de capacidade.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frontend/src/pages/RelatorioAuditoriaFrete.jsx.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Novos &gt; Auditoria de Cadastro. Verifica informações como data, valor e dados necessários à entrega, conforme o fluxo do pedido. O exemplo está completo e mostra zero inconsistências. A ausência de ocorrências é um resultado válido. A ferramenta ajuda a conferir qualidade do cadastro antes da execução.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frontend/src/pages/relatoriosNovos.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Relatórios Novos &gt; Produção Mensal. A tela reúne informações de consumo e produtividade para um período e oferece os botões PDF Resumido e PDF Completo. Na captura, o período vai de 01/09 a 15/09/2026. Mantenha o mesmo intervalo ao reconciliar com os relatórios individuais.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frontend/src/pages/relatoriosNovos/RelatorioMensalProducao.jsx.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Acesso pelos atalhos do Dashboard. A visão mostra indicadores de produção e ranking. O filtro de datas do ranking não deve ser apresentado como filtro universal de todos os indicadores do painel. Siga a explicação mostrada na própria tela e use os relatórios detalhados para investigar.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frontend/src/pages/dashboard/DashboardProducao.jsx.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Acesso pelos atalhos do Dashboard. O painel apoia a visão operacional da expedição. Os indicadores usam o escopo da própria tela. Para analisar se entregas já concluídas ocorreram no prazo, utilize Pontualidade das Entregas. Não compare percentuais de painéis com bases diferentes como se medissem a mesma coisa.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frontend/src/pages/dashboard/DashboardExpedicao.jsx.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Acesso pelos atalhos do Dashboard. O painel comercial mostra o panorama da base. Nesta versão, o total bruto do painel inclui o pedido cancelado e chega a R$ 107.305,00, enquanto Comercial por Vendedor usa R$ 104.250,00 em pedidos válidos. A diferença é de escopo. Para vendas excluindo cancelados, use o relatório Comercial por Vendedor.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frontend/src/pages/dashboard/DashboardComercial.jsx.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cadastros mantêm as informações usadas no dia a dia. O administrador também define os limites e os perfis de acesso.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Menu e fluxo do sistema.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Cadastros &gt; Clientes, para administrador. Cadastre nome, documento e contatos. Esses dados alimentam a seleção no pedido e o acompanhamento público. Confira o CPF ou CNPJ porque a consulta do cliente usa os primeiros dígitos do documento cadastrado. Todos os nomes e documentos mostrados são demonstrativos.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frontend/src/pages/Clientes.jsx.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Cadastros &gt; Funcionários. As funções disponíveis são ADMIN, VENDEDOR, OPERADOR e VENDEDOR_OPERADOR. O perfil controla os menus e ações autorizadas. O administrador gerencia usuários, situação ativa e redefinição de senha. Distribua acessos conforme a responsabilidade de cada pessoa. Não use a conta administrativa para demonstrar que todos os usuários têm os mesmos menus.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frontend/src/pages/Funcionarios.jsx.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Cadastros &gt; Rotas. Os exemplos são Centro, Zona Norte e Zona Sul, com valores fictícios. O valor padrão serve de referência no pedido e na auditoria quando houver alteração. O cadastro de rotas não deve ser apresentado como cálculo automático de percurso ou otimização de transporte.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frontend/src/pages/RotasEntrega.jsx.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Cadastros &gt; Tipos de Serviço. A base utiliza Corte, Fita de borda, Furação e Usinagem. Os tipos alimentam a seleção ao cadastrar serviços do plano e os filtros da produção. Padronize os nomes para facilitar consultas e comparações.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frontend/src/pages/TiposServico.jsx.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Sistema &gt; Configurações. Os dados da empresa e a logo são usados nos cabeçalhos das impressões contempladas pela tela. A configuração é administrativa. O cadastro não implica que todos os textos fixos de marca da aplicação sejam automaticamente substituídos.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frontend/src/pages/ConfiguracaoEmpresa.jsx.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Configurações &gt; Limites diários. Somente administradores editam os três limites. Em branco desativa o limite correspondente. Zero bloqueia novos agendamentos que ocupem aquela capacidade. Reduzir o limite não cancela registros existentes e pode deixar uma data acima do novo teto. O sistema impede aumentos adicionais, mantendo possíveis correções que não aumentem a ocupação. As regras demonstradas pertencem à versão local preparada para apresentação. A publicação dessa versão no ambiente de produção é uma etapa separada.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frontend/src/pages/ConfiguracaoEmpresa.jsx; frontend/src/components/CapacidadeDiaria.jsx; backend/src.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Caminho: rodapé do menu &gt; Alterar Senha. Cada usuário pode alterar sua senha conforme o formulário. O administrador também dispõe de gestão de senha nos funcionários. Ao demonstrar, não projete credenciais reais nem preencha senhas pessoais. O botão Sair encerra o acesso daquela sessão.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frontend/src/pages/MinhaSenha.jsx.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próximas telas complementam o cadastro integrado. Os caminhos diretos existem na versão atual, mas não aparecem todos no menu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Menu e fluxo do sistema.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Rota complementar: /planos-corte. A tela existe na versão atual e permite trabalhar com os planos separadamente. O menu principal direciona o uso rotineiro para Planos de Corte e Serviços. Use este caminho quando a operação desejar separar a manutenção de planos da seleção de serviços. A validação de capacidade também se aplica aqui.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frontend/src/pages/PlanosCorte.jsx.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Rota complementar: /servicos-plano. A tela permite consultar e manter os serviços de um plano separadamente. O primeiro passo é selecionar o contexto do pedido e do plano. A imagem mostra o contexto selecionado na base de demonstração. No fluxo apresentado anteriormente, a tela integrada realiza o cadastro de plano e serviços juntos.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frontend/src/pages/ServicosPlano.jsx.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Rota complementar: /operador. O painel existe como outra visão operacional dos serviços. Na navegação principal desta versão, o Kanban é o caminho destacado para a produção. Apresente este painel como recurso complementar disponível, sem afirmar que ele possui um atalho visível para todos os perfis.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frontend/src/pages/PainelOperador.jsx.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Sugestão de condução: faça a demonstração principal em cerca de 15 a 20 minutos, ajustando ao público. Esse tempo é uma proposta para a reunião, não um prazo de implantação. Use o restante do material para responder a perguntas. Peça exemplos concretos da operação: volume diário, responsáveis, filas de serviço e organização da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Telas e regras do sistema local.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Proponha uma validação acompanhada com registros representativos antes do uso amplo. Os limites 4, 4 e 90 são exemplos, não recomendações universais. Cada madeireira deve definir valores compatíveis com sua equipe e logística. Confirme a versão publicada e as configurações antes de demonstrar regras novas em 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Telas e regras do sistema local.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Finalize com uma pergunta ligada ao processo do prospect. Retome a tela mais relevante e combine os dados necessários para uma demonstração específica. Todos os números deste material são demonstrativos.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Sistema local e necessidades relatadas pelo usuário. Captura da aplicação local e base fictícia em 15/09/2026.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b4bd6d7bd46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c6a531ef64f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43789dee24f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1ff92fd7c40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2c965bea24b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25340bf6c4a3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c9b73056641a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3aa689945451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f8057cf8b746d3" /><Relationship Type="http://schemas.openxmlformats.org/officeDocument/2006/relationships/slideLayout" Target="/ppt/slideLayouts/slideLayout1.xml" Id="R8c33b17a41a14831" /><Relationship Type="http://schemas.openxmlformats.org/officeDocument/2006/relationships/slideLayout" Target="/ppt/slideLayouts/slideLayout2.xml" Id="R658aacb031804b66" /><Relationship Type="http://schemas.openxmlformats.org/officeDocument/2006/relationships/slideLayout" Target="/ppt/slideLayouts/slideLayout3.xml" Id="Rbe78f091410a4acc" /><Relationship Type="http://schemas.openxmlformats.org/officeDocument/2006/relationships/slideLayout" Target="/ppt/slideLayouts/slideLayout4.xml" Id="Rf26efb022a284cfa" /><Relationship Type="http://schemas.openxmlformats.org/officeDocument/2006/relationships/slideLayout" Target="/ppt/slideLayouts/slideLayout5.xml" Id="Rd46fc567cfd74a9c" /><Relationship Type="http://schemas.openxmlformats.org/officeDocument/2006/relationships/slideLayout" Target="/ppt/slideLayouts/slideLayout6.xml" Id="R9a99cac5869a4048" /><Relationship Type="http://schemas.openxmlformats.org/officeDocument/2006/relationships/slideLayout" Target="/ppt/slideLayouts/slideLayout7.xml" Id="R74efc8aa370c46d5" /><Relationship Type="http://schemas.openxmlformats.org/officeDocument/2006/relationships/slideLayout" Target="/ppt/slideLayouts/slideLayout8.xml" Id="R8558643211da44e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33b17a41a14831"/>
    <p:sldLayoutId xmlns:r="http://schemas.openxmlformats.org/officeDocument/2006/relationships" id="2147483650" r:id="R658aacb031804b66"/>
    <p:sldLayoutId xmlns:r="http://schemas.openxmlformats.org/officeDocument/2006/relationships" id="2147483651" r:id="Rbe78f091410a4acc"/>
    <p:sldLayoutId xmlns:r="http://schemas.openxmlformats.org/officeDocument/2006/relationships" id="2147483652" r:id="Rf26efb022a284cfa"/>
    <p:sldLayoutId xmlns:r="http://schemas.openxmlformats.org/officeDocument/2006/relationships" id="2147483653" r:id="Rd46fc567cfd74a9c"/>
    <p:sldLayoutId xmlns:r="http://schemas.openxmlformats.org/officeDocument/2006/relationships" id="2147483654" r:id="R9a99cac5869a4048"/>
    <p:sldLayoutId xmlns:r="http://schemas.openxmlformats.org/officeDocument/2006/relationships" id="2147483655" r:id="R74efc8aa370c46d5"/>
    <p:sldLayoutId xmlns:r="http://schemas.openxmlformats.org/officeDocument/2006/relationships" id="2147483656" r:id="R8558643211da44ed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66c422a714870" /><Relationship Type="http://schemas.openxmlformats.org/officeDocument/2006/relationships/image" Target="/ppt/media/image.png" Id="R304e2cb99c7940b2" /><Relationship Type="http://schemas.openxmlformats.org/officeDocument/2006/relationships/notesSlide" Target="/ppt/notesSlides/notesSlide1.xml" Id="R3a2d41c2c96647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aac1430a34593" /><Relationship Type="http://schemas.openxmlformats.org/officeDocument/2006/relationships/notesSlide" Target="/ppt/notesSlides/notesSlide2.xml" Id="Rec107f522ebb4b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34630b6a848f9" /><Relationship Type="http://schemas.openxmlformats.org/officeDocument/2006/relationships/notesSlide" Target="/ppt/notesSlides/notesSlide3.xml" Id="Ra104984c72b644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6f4e1cc874f51" /><Relationship Type="http://schemas.openxmlformats.org/officeDocument/2006/relationships/notesSlide" Target="/ppt/notesSlides/notesSlide4.xml" Id="R2315048fbdac4b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9d8f4537945ab" /><Relationship Type="http://schemas.openxmlformats.org/officeDocument/2006/relationships/image" Target="/ppt/media/image2.png" Id="R3451ce38ec3b4f42" /><Relationship Type="http://schemas.openxmlformats.org/officeDocument/2006/relationships/notesSlide" Target="/ppt/notesSlides/notesSlide5.xml" Id="R86cbca11771741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62bc98da548ac" /><Relationship Type="http://schemas.openxmlformats.org/officeDocument/2006/relationships/notesSlide" Target="/ppt/notesSlides/notesSlide6.xml" Id="Rcafa0d718f4d48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04bba0da74ca0" /><Relationship Type="http://schemas.openxmlformats.org/officeDocument/2006/relationships/image" Target="/ppt/media/image3.png" Id="R4c05e4f9a2b04de2" /><Relationship Type="http://schemas.openxmlformats.org/officeDocument/2006/relationships/notesSlide" Target="/ppt/notesSlides/notesSlide7.xml" Id="Rb0f3a2b7b5d040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7f9478d314314" /><Relationship Type="http://schemas.openxmlformats.org/officeDocument/2006/relationships/image" Target="/ppt/media/image4.png" Id="R45cf902b253b427b" /><Relationship Type="http://schemas.openxmlformats.org/officeDocument/2006/relationships/notesSlide" Target="/ppt/notesSlides/notesSlide8.xml" Id="Rbfb4ed9d56a949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6a1c3daa443c8" /><Relationship Type="http://schemas.openxmlformats.org/officeDocument/2006/relationships/image" Target="/ppt/media/image5.png" Id="Ra9ea4001d620401c" /><Relationship Type="http://schemas.openxmlformats.org/officeDocument/2006/relationships/notesSlide" Target="/ppt/notesSlides/notesSlide9.xml" Id="R01ffb393722e40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16d6628f54a6a" /><Relationship Type="http://schemas.openxmlformats.org/officeDocument/2006/relationships/image" Target="/ppt/media/image6.png" Id="R79072fc794f1462c" /><Relationship Type="http://schemas.openxmlformats.org/officeDocument/2006/relationships/notesSlide" Target="/ppt/notesSlides/notesSlide10.xml" Id="R5e8105981d084a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e461cf8d74cc2" /><Relationship Type="http://schemas.openxmlformats.org/officeDocument/2006/relationships/image" Target="/ppt/media/image7.png" Id="R067b70bd3beb40b4" /><Relationship Type="http://schemas.openxmlformats.org/officeDocument/2006/relationships/notesSlide" Target="/ppt/notesSlides/notesSlide11.xml" Id="R493326461c6f40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f7e11025744b0" /><Relationship Type="http://schemas.openxmlformats.org/officeDocument/2006/relationships/notesSlide" Target="/ppt/notesSlides/notesSlide12.xml" Id="R490dd3cf0af84a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30ca89ecd4dba" /><Relationship Type="http://schemas.openxmlformats.org/officeDocument/2006/relationships/notesSlide" Target="/ppt/notesSlides/notesSlide13.xml" Id="R941c8b2e539847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7aa395ede44db" /><Relationship Type="http://schemas.openxmlformats.org/officeDocument/2006/relationships/image" Target="/ppt/media/image8.png" Id="R3421fd4f1fa7455d" /><Relationship Type="http://schemas.openxmlformats.org/officeDocument/2006/relationships/notesSlide" Target="/ppt/notesSlides/notesSlide14.xml" Id="Rc0d87c905c7949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c9159deef4f6f" /><Relationship Type="http://schemas.openxmlformats.org/officeDocument/2006/relationships/notesSlide" Target="/ppt/notesSlides/notesSlide15.xml" Id="R04d0bfb158d146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b21da873643d0" /><Relationship Type="http://schemas.openxmlformats.org/officeDocument/2006/relationships/image" Target="/ppt/media/image9.png" Id="R9096fa39d0784850" /><Relationship Type="http://schemas.openxmlformats.org/officeDocument/2006/relationships/notesSlide" Target="/ppt/notesSlides/notesSlide16.xml" Id="Re50b6c658a5e4f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5032b67354d44" /><Relationship Type="http://schemas.openxmlformats.org/officeDocument/2006/relationships/image" Target="/ppt/media/image10.png" Id="Rd30f944f994645a9" /><Relationship Type="http://schemas.openxmlformats.org/officeDocument/2006/relationships/notesSlide" Target="/ppt/notesSlides/notesSlide17.xml" Id="R66572a5da2fe4a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0e3624fca41d8" /><Relationship Type="http://schemas.openxmlformats.org/officeDocument/2006/relationships/image" Target="/ppt/media/image11.png" Id="Rf115574f22084013" /><Relationship Type="http://schemas.openxmlformats.org/officeDocument/2006/relationships/notesSlide" Target="/ppt/notesSlides/notesSlide18.xml" Id="Rfc0c616ff5234d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dbfde7b9f4cb9" /><Relationship Type="http://schemas.openxmlformats.org/officeDocument/2006/relationships/image" Target="/ppt/media/image12.png" Id="R00a9985a4bb7449b" /><Relationship Type="http://schemas.openxmlformats.org/officeDocument/2006/relationships/notesSlide" Target="/ppt/notesSlides/notesSlide19.xml" Id="R5bb7da0ffed149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aa2fa60c648b1" /><Relationship Type="http://schemas.openxmlformats.org/officeDocument/2006/relationships/image" Target="/ppt/media/image13.png" Id="R4ef5be3277b248ec" /><Relationship Type="http://schemas.openxmlformats.org/officeDocument/2006/relationships/notesSlide" Target="/ppt/notesSlides/notesSlide20.xml" Id="Rd9bd122c4f964e9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e88f1b59242ef" /><Relationship Type="http://schemas.openxmlformats.org/officeDocument/2006/relationships/notesSlide" Target="/ppt/notesSlides/notesSlide21.xml" Id="Rabbf3e65473e480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6a9d05a244583" /><Relationship Type="http://schemas.openxmlformats.org/officeDocument/2006/relationships/image" Target="/ppt/media/image14.png" Id="Rdf7b36e8b1ff4a91" /><Relationship Type="http://schemas.openxmlformats.org/officeDocument/2006/relationships/notesSlide" Target="/ppt/notesSlides/notesSlide22.xml" Id="R3f5ed60d21f74fa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4b8c7d289434f" /><Relationship Type="http://schemas.openxmlformats.org/officeDocument/2006/relationships/image" Target="/ppt/media/image15.png" Id="R25a4bd45756f4523" /><Relationship Type="http://schemas.openxmlformats.org/officeDocument/2006/relationships/notesSlide" Target="/ppt/notesSlides/notesSlide23.xml" Id="R52f16adc7f8e42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e52e88c7e4c76" /><Relationship Type="http://schemas.openxmlformats.org/officeDocument/2006/relationships/notesSlide" Target="/ppt/notesSlides/notesSlide24.xml" Id="R548a95ec9bd743d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77c5cfac04ed6" /><Relationship Type="http://schemas.openxmlformats.org/officeDocument/2006/relationships/image" Target="/ppt/media/image16.png" Id="R10faa8ddb5bf407f" /><Relationship Type="http://schemas.openxmlformats.org/officeDocument/2006/relationships/notesSlide" Target="/ppt/notesSlides/notesSlide25.xml" Id="Rda8687acada747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98afb89dc4ccf" /><Relationship Type="http://schemas.openxmlformats.org/officeDocument/2006/relationships/image" Target="/ppt/media/image17.png" Id="R8d0b6f0d75064ced" /><Relationship Type="http://schemas.openxmlformats.org/officeDocument/2006/relationships/notesSlide" Target="/ppt/notesSlides/notesSlide26.xml" Id="R79a5a985ced746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c5907ff3e47fc" /><Relationship Type="http://schemas.openxmlformats.org/officeDocument/2006/relationships/image" Target="/ppt/media/image18.png" Id="R182f998a03f24344" /><Relationship Type="http://schemas.openxmlformats.org/officeDocument/2006/relationships/notesSlide" Target="/ppt/notesSlides/notesSlide27.xml" Id="Rd51ee847df734eb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182ff26fb4b6b" /><Relationship Type="http://schemas.openxmlformats.org/officeDocument/2006/relationships/image" Target="/ppt/media/image19.png" Id="R3cc187e78dcb424f" /><Relationship Type="http://schemas.openxmlformats.org/officeDocument/2006/relationships/notesSlide" Target="/ppt/notesSlides/notesSlide28.xml" Id="Rfdca841e9bf648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5b689ccbb4d2c" /><Relationship Type="http://schemas.openxmlformats.org/officeDocument/2006/relationships/image" Target="/ppt/media/image20.png" Id="R34b24a817762454b" /><Relationship Type="http://schemas.openxmlformats.org/officeDocument/2006/relationships/notesSlide" Target="/ppt/notesSlides/notesSlide29.xml" Id="Rfdd6184d14184b6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004ab108145ae" /><Relationship Type="http://schemas.openxmlformats.org/officeDocument/2006/relationships/notesSlide" Target="/ppt/notesSlides/notesSlide30.xml" Id="R4569d2373c71488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1aa955bdc4bdd" /><Relationship Type="http://schemas.openxmlformats.org/officeDocument/2006/relationships/notesSlide" Target="/ppt/notesSlides/notesSlide31.xml" Id="R14f86f726a8e481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7c20a93c644096" /><Relationship Type="http://schemas.openxmlformats.org/officeDocument/2006/relationships/image" Target="/ppt/media/image21.png" Id="R564ab0cb8e8c42e3" /><Relationship Type="http://schemas.openxmlformats.org/officeDocument/2006/relationships/notesSlide" Target="/ppt/notesSlides/notesSlide32.xml" Id="Raa174ca5a463418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c4dfcc69045a3" /><Relationship Type="http://schemas.openxmlformats.org/officeDocument/2006/relationships/image" Target="/ppt/media/image22.png" Id="R53c18fe1198b426b" /><Relationship Type="http://schemas.openxmlformats.org/officeDocument/2006/relationships/notesSlide" Target="/ppt/notesSlides/notesSlide33.xml" Id="R6554c1ea1bca472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87db966374654" /><Relationship Type="http://schemas.openxmlformats.org/officeDocument/2006/relationships/image" Target="/ppt/media/image23.png" Id="R375cd94d8d7846c7" /><Relationship Type="http://schemas.openxmlformats.org/officeDocument/2006/relationships/notesSlide" Target="/ppt/notesSlides/notesSlide34.xml" Id="R75b641bfd89b4be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c9531cc9c46e8" /><Relationship Type="http://schemas.openxmlformats.org/officeDocument/2006/relationships/image" Target="/ppt/media/image24.png" Id="Rb128171891f943a1" /><Relationship Type="http://schemas.openxmlformats.org/officeDocument/2006/relationships/notesSlide" Target="/ppt/notesSlides/notesSlide35.xml" Id="Rc230a22f3ea7421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f851ac78547a4" /><Relationship Type="http://schemas.openxmlformats.org/officeDocument/2006/relationships/image" Target="/ppt/media/image25.png" Id="Rf56221438d9349aa" /><Relationship Type="http://schemas.openxmlformats.org/officeDocument/2006/relationships/notesSlide" Target="/ppt/notesSlides/notesSlide36.xml" Id="Rc3cc0ed918f64e6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248f7a23a54040" /><Relationship Type="http://schemas.openxmlformats.org/officeDocument/2006/relationships/image" Target="/ppt/media/image26.png" Id="R8d1e222e08a74e77" /><Relationship Type="http://schemas.openxmlformats.org/officeDocument/2006/relationships/notesSlide" Target="/ppt/notesSlides/notesSlide37.xml" Id="Rf637c3fa4f8b4ce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32248ed174701" /><Relationship Type="http://schemas.openxmlformats.org/officeDocument/2006/relationships/image" Target="/ppt/media/image27.png" Id="R63d9d673c8d54014" /><Relationship Type="http://schemas.openxmlformats.org/officeDocument/2006/relationships/notesSlide" Target="/ppt/notesSlides/notesSlide38.xml" Id="Ra938a2f77ffd429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c6a0cd9384f38" /><Relationship Type="http://schemas.openxmlformats.org/officeDocument/2006/relationships/image" Target="/ppt/media/image28.png" Id="R09a3c7ee7bf34c95" /><Relationship Type="http://schemas.openxmlformats.org/officeDocument/2006/relationships/notesSlide" Target="/ppt/notesSlides/notesSlide39.xml" Id="R8bc52bd488e0453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a51930e7543cb" /><Relationship Type="http://schemas.openxmlformats.org/officeDocument/2006/relationships/image" Target="/ppt/media/image29.png" Id="R9282c82a61ed4f0a" /><Relationship Type="http://schemas.openxmlformats.org/officeDocument/2006/relationships/notesSlide" Target="/ppt/notesSlides/notesSlide40.xml" Id="R2aa322cc4d3f47c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c1835e3a949be" /><Relationship Type="http://schemas.openxmlformats.org/officeDocument/2006/relationships/image" Target="/ppt/media/image30.png" Id="R6d1a451d4a6d40ca" /><Relationship Type="http://schemas.openxmlformats.org/officeDocument/2006/relationships/notesSlide" Target="/ppt/notesSlides/notesSlide41.xml" Id="Rdbd54ab8680649f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1cc9ffee9a4562" /><Relationship Type="http://schemas.openxmlformats.org/officeDocument/2006/relationships/image" Target="/ppt/media/image31.png" Id="Rca9f03c3b02a4cdc" /><Relationship Type="http://schemas.openxmlformats.org/officeDocument/2006/relationships/notesSlide" Target="/ppt/notesSlides/notesSlide42.xml" Id="R85aa73fa76624c1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70d913cdb34071" /><Relationship Type="http://schemas.openxmlformats.org/officeDocument/2006/relationships/image" Target="/ppt/media/image32.png" Id="Rc4f621706c2c41fd" /><Relationship Type="http://schemas.openxmlformats.org/officeDocument/2006/relationships/notesSlide" Target="/ppt/notesSlides/notesSlide43.xml" Id="R29049ea1e5a14a4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240d044a04751" /><Relationship Type="http://schemas.openxmlformats.org/officeDocument/2006/relationships/image" Target="/ppt/media/image33.png" Id="R0601f99d40c043d9" /><Relationship Type="http://schemas.openxmlformats.org/officeDocument/2006/relationships/notesSlide" Target="/ppt/notesSlides/notesSlide44.xml" Id="R20f28774e0fa473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267174f854902" /><Relationship Type="http://schemas.openxmlformats.org/officeDocument/2006/relationships/image" Target="/ppt/media/image34.png" Id="Rc5315c53bd914ff6" /><Relationship Type="http://schemas.openxmlformats.org/officeDocument/2006/relationships/notesSlide" Target="/ppt/notesSlides/notesSlide45.xml" Id="Race165015b0e4c6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c30eb8dac4f49" /><Relationship Type="http://schemas.openxmlformats.org/officeDocument/2006/relationships/image" Target="/ppt/media/image35.png" Id="Rfd115df866e04f16" /><Relationship Type="http://schemas.openxmlformats.org/officeDocument/2006/relationships/notesSlide" Target="/ppt/notesSlides/notesSlide46.xml" Id="R3dd5193bc7c24e9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aafd64c9f41b1" /><Relationship Type="http://schemas.openxmlformats.org/officeDocument/2006/relationships/image" Target="/ppt/media/image36.png" Id="R24d934e5df184b1f" /><Relationship Type="http://schemas.openxmlformats.org/officeDocument/2006/relationships/notesSlide" Target="/ppt/notesSlides/notesSlide47.xml" Id="Re31a7509d7e44dd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69cbbf32bf442a" /><Relationship Type="http://schemas.openxmlformats.org/officeDocument/2006/relationships/image" Target="/ppt/media/image37.png" Id="R34dafedf1b0b4cf1" /><Relationship Type="http://schemas.openxmlformats.org/officeDocument/2006/relationships/notesSlide" Target="/ppt/notesSlides/notesSlide48.xml" Id="R4ae563a04fe445e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753591339413c" /><Relationship Type="http://schemas.openxmlformats.org/officeDocument/2006/relationships/image" Target="/ppt/media/image38.png" Id="R4bb9bf1491ab4754" /><Relationship Type="http://schemas.openxmlformats.org/officeDocument/2006/relationships/notesSlide" Target="/ppt/notesSlides/notesSlide49.xml" Id="Rd975a7b99ec94e1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00bea970b4bed" /><Relationship Type="http://schemas.openxmlformats.org/officeDocument/2006/relationships/notesSlide" Target="/ppt/notesSlides/notesSlide50.xml" Id="R2039c193f1e14a1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3f133114d485f" /><Relationship Type="http://schemas.openxmlformats.org/officeDocument/2006/relationships/image" Target="/ppt/media/image39.png" Id="R4041926ea2d34a49" /><Relationship Type="http://schemas.openxmlformats.org/officeDocument/2006/relationships/notesSlide" Target="/ppt/notesSlides/notesSlide51.xml" Id="R44935e3af8a943f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73781cc6a94d7a" /><Relationship Type="http://schemas.openxmlformats.org/officeDocument/2006/relationships/image" Target="/ppt/media/image40.png" Id="R356d7c30e8bb403f" /><Relationship Type="http://schemas.openxmlformats.org/officeDocument/2006/relationships/notesSlide" Target="/ppt/notesSlides/notesSlide52.xml" Id="R87fa2687e0a945f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9a1e0710d4fc8" /><Relationship Type="http://schemas.openxmlformats.org/officeDocument/2006/relationships/image" Target="/ppt/media/image41.png" Id="Rcde93d4c8f7c4716" /><Relationship Type="http://schemas.openxmlformats.org/officeDocument/2006/relationships/notesSlide" Target="/ppt/notesSlides/notesSlide53.xml" Id="Rc7b8b8ecaf9b44d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940dc75464654" /><Relationship Type="http://schemas.openxmlformats.org/officeDocument/2006/relationships/image" Target="/ppt/media/image42.png" Id="Rbf7e7929f18c4625" /><Relationship Type="http://schemas.openxmlformats.org/officeDocument/2006/relationships/notesSlide" Target="/ppt/notesSlides/notesSlide54.xml" Id="R0c9be027cbb24b9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5db6a7fc54920" /><Relationship Type="http://schemas.openxmlformats.org/officeDocument/2006/relationships/image" Target="/ppt/media/image43.png" Id="R4e4cc710aede406e" /><Relationship Type="http://schemas.openxmlformats.org/officeDocument/2006/relationships/notesSlide" Target="/ppt/notesSlides/notesSlide55.xml" Id="R90d7b4c5921543c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022af0a7140ea" /><Relationship Type="http://schemas.openxmlformats.org/officeDocument/2006/relationships/image" Target="/ppt/media/image44.png" Id="R285d0008ee5e4e30" /><Relationship Type="http://schemas.openxmlformats.org/officeDocument/2006/relationships/notesSlide" Target="/ppt/notesSlides/notesSlide56.xml" Id="Rf08d113360864e5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1828d44f44c8c" /><Relationship Type="http://schemas.openxmlformats.org/officeDocument/2006/relationships/image" Target="/ppt/media/image45.png" Id="Rb1560a07e1034e74" /><Relationship Type="http://schemas.openxmlformats.org/officeDocument/2006/relationships/notesSlide" Target="/ppt/notesSlides/notesSlide57.xml" Id="R15b9348c16814733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f2274726c4094" /><Relationship Type="http://schemas.openxmlformats.org/officeDocument/2006/relationships/notesSlide" Target="/ppt/notesSlides/notesSlide58.xml" Id="R7ff7970fe24a405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54cfd4532b42ad" /><Relationship Type="http://schemas.openxmlformats.org/officeDocument/2006/relationships/image" Target="/ppt/media/image46.png" Id="R81a942a8c4744e5a" /><Relationship Type="http://schemas.openxmlformats.org/officeDocument/2006/relationships/notesSlide" Target="/ppt/notesSlides/notesSlide59.xml" Id="R7210d912247b4509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0a5b3c10e4da3" /><Relationship Type="http://schemas.openxmlformats.org/officeDocument/2006/relationships/image" Target="/ppt/media/image47.png" Id="R5b80eb80f6b04710" /><Relationship Type="http://schemas.openxmlformats.org/officeDocument/2006/relationships/notesSlide" Target="/ppt/notesSlides/notesSlide60.xml" Id="Rdfd250454f1d452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c6bd378c34636" /><Relationship Type="http://schemas.openxmlformats.org/officeDocument/2006/relationships/image" Target="/ppt/media/image48.png" Id="R4845ac472c6b438c" /><Relationship Type="http://schemas.openxmlformats.org/officeDocument/2006/relationships/notesSlide" Target="/ppt/notesSlides/notesSlide61.xml" Id="R421f40e8ce0b4cb4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6ef27654b4d00" /><Relationship Type="http://schemas.openxmlformats.org/officeDocument/2006/relationships/notesSlide" Target="/ppt/notesSlides/notesSlide62.xml" Id="R5ab3198c16fe4e4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bba1c99e9497e" /><Relationship Type="http://schemas.openxmlformats.org/officeDocument/2006/relationships/notesSlide" Target="/ppt/notesSlides/notesSlide63.xml" Id="R8ff4b169f1694d1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3578d03324d2d" /><Relationship Type="http://schemas.openxmlformats.org/officeDocument/2006/relationships/notesSlide" Target="/ppt/notesSlides/notesSlide64.xml" Id="R16aeb5a984b84f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9100" y="1762125"/>
            <a:ext cx="7105650" cy="30956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Sistema de Gestão</a:t>
            </a:r>
          </a:p>
          <a:p xmlns:a="http://schemas.openxmlformats.org/drawingml/2006/main">
            <a:pPr>
              <a:defRPr sz="4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 Produção</a:t>
            </a:r>
          </a:p>
          <a:p xmlns:a="http://schemas.openxmlformats.org/drawingml/2006/main">
            <a:pPr>
              <a:defRPr sz="4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 Madeireiras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9100" y="5248275"/>
            <a:ext cx="6905625" cy="104775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Pedidos, planos, produção e entrega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guiada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70008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APRESENTAÇÃO DO SISTEMA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e2cb99c7940b2"/>
          <a:srcRect xmlns:a="http://schemas.openxmlformats.org/drawingml/2006/main" l="3052" t="0" r="30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662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do sistema com dados fictícios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763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 perguntas de uma operação organizada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76850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Antes de prometer a entrega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Quanto já está programado para a data?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Ainda há espaço para chapas e fretes?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53075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Durante a execução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serviço está aguardando?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Quem está executando e o que já foi entregue?</a:t>
            </a:r>
          </a:p>
        </p:txBody>
      </p:sp>
    </p:spTree>
    <p:extLst>
      <p:ext uri="{BB962C8B-B14F-4D97-AF65-F5344CB8AC3E}">
        <p14:creationId xmlns:p14="http://schemas.microsoft.com/office/powerpoint/2010/main" val="1649114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do sistema com dados fictícios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763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caminho de cada pedido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76850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Atendimento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Cliente, vendedor, data e forma de recebimento.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Planejamento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Planos com chapas e serviços.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53075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Produção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Operadores atualizam os serviços no Kanban.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  Entrega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Expedição registra a saída e a conclusão.</a:t>
            </a:r>
          </a:p>
        </p:txBody>
      </p:sp>
    </p:spTree>
    <p:extLst>
      <p:ext uri="{BB962C8B-B14F-4D97-AF65-F5344CB8AC3E}">
        <p14:creationId xmlns:p14="http://schemas.microsoft.com/office/powerpoint/2010/main" val="4152133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do sistema com dados fictícios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763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Um exemplo que atravessa a apresentação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76850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Pedido 2401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Marcenaria Aurora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 chapas em dois planos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Entrega em 18/09/2026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Valor do pedido: R$ 4.140,00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53075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Base de demonstração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24 pedidos e 19 planos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57 serviços cadastrados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 pedidos entregues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Nomes e valores fictícios</a:t>
            </a:r>
          </a:p>
        </p:txBody>
      </p:sp>
    </p:spTree>
    <p:extLst>
      <p:ext uri="{BB962C8B-B14F-4D97-AF65-F5344CB8AC3E}">
        <p14:creationId xmlns:p14="http://schemas.microsoft.com/office/powerpoint/2010/main" val="15862895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Dashboard: a situação do dia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Observe os totais por situação.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Identifique atrasos e prioridades.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Abra a visão específica da área.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1ce38ec3b4f42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939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3333750"/>
            <a:ext cx="11144250" cy="2667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Pedidos e</a:t>
            </a:r>
          </a:p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capacidade diária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810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ATENDIMENTO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"/>
            <a:ext cx="1028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95323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Consulta de pedidos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Busque pelo número ou pelo cliente.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Combine os filtros da listagem.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Abra os detalhes ou a edição.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5e4f9a2b04de2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074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Origem e fluxo do pedido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Origem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Número externo informado manualmente ou numeração do sistema.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Fluxo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 produção ou direto para entrega.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f902b253b427b"/>
          <a:stretch xmlns:a="http://schemas.openxmlformats.org/drawingml/2006/main"/>
        </p:blipFill>
        <p:spPr>
          <a:xfrm xmlns:a="http://schemas.openxmlformats.org/drawingml/2006/main">
            <a:off x="3839369" y="1304925"/>
            <a:ext cx="7751762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578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Dados principais do pedido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Selecione cliente e vendedor.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Informe a data prevista.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Confira valor e situação.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a4001d620401c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566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Entrega, retirada e frete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Empresa entrega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Preencha responsável pelo frete, rota e recebimento.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Cliente retira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pedido segue sem ocupar vaga de frete.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72fc794f1462c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0860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Disponibilidade antes de salvar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18/09/2026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Loja: 3 de 4 fretes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Cliente: 1 de 4 fretes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Chapas: 85 de 90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tela mostra o que ainda cabe.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b70bd3beb40b4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5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do sistema com dados fictícios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4DB16885-0D3F-A391-B669-3211DB3B26E8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763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Como o bloqueio de chapas funciona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76850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Limite por data de entrega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85 chapas já programadas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+ 5 chapas = 90: permitido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+ 6 chapas = 91: bloqueado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53075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Quando o sistema confere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Ao cadastrar ou alterar planos.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Ao mudar a data de um pedido.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Nas alterações que voltam a ocupar a capacidade.</a:t>
            </a:r>
          </a:p>
        </p:txBody>
      </p:sp>
    </p:spTree>
    <p:extLst>
      <p:ext uri="{BB962C8B-B14F-4D97-AF65-F5344CB8AC3E}">
        <p14:creationId xmlns:p14="http://schemas.microsoft.com/office/powerpoint/2010/main" val="13450792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do sistema com dados fictícios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2DD23107-4986-8758-3A93-3D74F35908CC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763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Como o bloqueio de fretes funciona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76850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Dois limites independentes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 fretes da loja por dia.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 fretes do cliente por dia.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quinto da categoria bloqueia.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53075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mesma data prevista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 pedido com entrega ocupa uma vaga.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Retirada pelo cliente não ocupa vaga de frete.</a:t>
            </a:r>
          </a:p>
        </p:txBody>
      </p:sp>
    </p:spTree>
    <p:extLst>
      <p:ext uri="{BB962C8B-B14F-4D97-AF65-F5344CB8AC3E}">
        <p14:creationId xmlns:p14="http://schemas.microsoft.com/office/powerpoint/2010/main" val="9472473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327921A4-25C4-3DB4-06B1-32693CEE2241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Detalhes e histórico do pedido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Abra o pedido na consulta.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Confira dados e planos.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Consulte os eventos registrados.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1fd4f1fa7455d"/>
          <a:stretch xmlns:a="http://schemas.openxmlformats.org/drawingml/2006/main"/>
        </p:blipFill>
        <p:spPr>
          <a:xfrm xmlns:a="http://schemas.openxmlformats.org/drawingml/2006/main">
            <a:off x="4091049" y="1304925"/>
            <a:ext cx="7248401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087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3333750"/>
            <a:ext cx="11144250" cy="2667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Planos e</a:t>
            </a:r>
          </a:p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execução da produção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810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CHÃO DE FÁBRICA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"/>
            <a:ext cx="1028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0643277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DC9C7607-4BA3-B4DC-A00F-2E67A9FCFF7E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Planos de Corte e Serviços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Selecione o pedido.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Confira prazo e capacidade.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Informe plano e quantidade.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6fa39d0784850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3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90F7333B-44AC-F7E9-D49D-FE92F45E0477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Serviços e operadores de cada plano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Marque os serviços necessários.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Informe observações.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Selecione o operador, se definido.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  Salve plano e serviços.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f944f994645a9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114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B1C6C81E-38B9-7560-621D-5A151A79DF9B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Revisão dos planos cadastrados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Plano 2401-1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 chapas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Plano 2401-2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 chapas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Total do pedido: 12 chapas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5574f22084013"/>
          <a:stretch xmlns:a="http://schemas.openxmlformats.org/drawingml/2006/main"/>
        </p:blipFill>
        <p:spPr>
          <a:xfrm xmlns:a="http://schemas.openxmlformats.org/drawingml/2006/main">
            <a:off x="4043363" y="1304925"/>
            <a:ext cx="734377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7972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CCF91274-D221-1BB4-3BF9-836E3AD31EBE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Kanban: cada cartão representa um serviço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Aguardando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Serviços abertos.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Em produção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Serviços iniciados.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Finalizados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Serviços concluídos.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9985a4bb7449b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26275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844E025A-983C-6D44-79C6-4612AACD43FC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Execução do pedido 2401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Localize o pedido.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Inicie o serviço disponível.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Conclua após a execução.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cartão identifica plano e operador.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5be3277b248ec"/>
          <a:stretch xmlns:a="http://schemas.openxmlformats.org/drawingml/2006/main"/>
        </p:blipFill>
        <p:spPr>
          <a:xfrm xmlns:a="http://schemas.openxmlformats.org/drawingml/2006/main">
            <a:off x="4043363" y="1304925"/>
            <a:ext cx="734377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4650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do sistema com dados fictícios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F6DF2BE2-2DFA-1C03-677D-BDC2260D6D92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763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Conclusão da produção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76850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Serviços concluídos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Quando todos os serviços do pedido terminam, o sistema recalcula sua situação.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53075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Pronto para entrega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pedido passa a integrar a rotina da expedição para entrega ou retirada.</a:t>
            </a:r>
          </a:p>
        </p:txBody>
      </p:sp>
    </p:spTree>
    <p:extLst>
      <p:ext uri="{BB962C8B-B14F-4D97-AF65-F5344CB8AC3E}">
        <p14:creationId xmlns:p14="http://schemas.microsoft.com/office/powerpoint/2010/main" val="151308985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0BB18BA8-60F4-C50D-CD9B-1BB87D3E8506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Modo TV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Abra Produção &gt; Modo TV.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Exiba o painel no setor.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Acompanhe a fila visível.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b36e8b1ff4a91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1945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A4E99CEF-AF55-BA3C-ADF8-4E52E186DD8F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Alertas de produção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Consulte os avisos.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Localize o pedido envolvido.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Priorize a verificação da equipe.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4bd45756f4523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814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3333750"/>
            <a:ext cx="11144250" cy="2667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Expedição e</a:t>
            </a:r>
          </a:p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entregas concluídas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810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ATENDIMENTO ATÉ O FIM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"/>
            <a:ext cx="1028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893405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F3AE1AE4-D79E-94D6-E825-3FC6C21A77D2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Expedição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Localize o pedido pronto.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Confira a forma de recebimento.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Registre saída e conclusão.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aa8ddb5bf407f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48366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5AB55966-FA28-BC73-EA9E-53DF014DF033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Relatório de entrega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Escolha o período e os filtros.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Confira pedidos e destino.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Use a impressão quando necessário.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b6f0d75064ced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0427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02F15020-66A7-620A-7B7A-C05C4312DEAE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Romaneio de entrega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Selecione a relação de entregas.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Confira rota e recebedor.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Gere a impressão da relação.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f998a03f24344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81995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68AD4375-9F50-F53A-6F9F-DD8473067C05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Tudo o que já foi entregue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Abra Pedidos Entregues.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Filtre o responsável pelo frete.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Consulte loja, cliente ou todos.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Exemplo: 7 pedidos entregues.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187e78dcb424f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8979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41680313-6E64-04FF-399A-57B7CADE95A9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Acompanhamento pelo cliente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Informe o número do pedido.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Confirme os cinco primeiros dígitos do documento.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Consulte situação e previsão.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24a817762454b"/>
          <a:stretch xmlns:a="http://schemas.openxmlformats.org/drawingml/2006/main"/>
        </p:blipFill>
        <p:spPr>
          <a:xfrm xmlns:a="http://schemas.openxmlformats.org/drawingml/2006/main">
            <a:off x="4190238" y="1304925"/>
            <a:ext cx="7050024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998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3333750"/>
            <a:ext cx="11144250" cy="2667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Relatórios para</a:t>
            </a:r>
          </a:p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decisões do dia a dia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810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  CONSULTA GERENCIAL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"/>
            <a:ext cx="1028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01301633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do sistema com dados fictícios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D172A7C5-A0CC-7B36-F236-345181E6AD72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763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relatório responde à pergunta?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76850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Planejamento e operação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Quanto cabe na data? Programação.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que falta executar? Pendências.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Quem concluiu? Produtividade.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53075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Comercial e entrega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Quanto vendemos? Comercial.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que está em aberto? Carteira.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Entregamos no prazo? Pontualidade.</a:t>
            </a:r>
          </a:p>
        </p:txBody>
      </p:sp>
    </p:spTree>
    <p:extLst>
      <p:ext uri="{BB962C8B-B14F-4D97-AF65-F5344CB8AC3E}">
        <p14:creationId xmlns:p14="http://schemas.microsoft.com/office/powerpoint/2010/main" val="159742575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66C3428B-053E-6B4E-39FF-75B44F3F33F6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Programação de chapas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Consulte as datas de entrega.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Veja os pedidos de cada dia.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Compare o volume com a capacidade.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ab0cb8e8c42e3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3482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59F9B2FD-F323-2D0A-D581-D6E61055F9A8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Consumo de chapas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Escolha a base da data.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Defina o período.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Compare produção e chapas inteiras.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Exemplo: 258 chapas no total.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18fe1198b426b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7614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D6C2EC43-E3B9-C9B0-67FF-5447EB7F3925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Produção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Escolha período e situação.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Confira serviços e operadores.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Analise os tempos apresentados.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cd94d8d7846c7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4310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4A4FA566-8B12-6DD2-DDB5-FA6393938FB6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Produtividade por operador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Defina o período.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Compare serviços concluídos.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Confira o detalhe antes de avaliar.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8171891f943a1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67671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E39A338D-B192-3127-EB9A-53A2665A0BB7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Serviços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Filtre tipo, operador e situação.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Consulte os pendentes.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Amplie a seleção para outras situações.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221438d9349aa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9126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8D334276-4C85-190E-BA41-5CA1CBB04E4E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Pendências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25 ocorrências no exemplo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 pedidos sem plano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serviços pendentes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 planos sem serviço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 ocorrência pede conferência.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e222e08a74e77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10862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855A7F00-3259-A23D-D734-A322A9F9DD63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Pedidos em andamento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Aplique os filtros.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Consulte abertos, em separação e em produção.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Abra o pedido para agir.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9d673c8d54014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2829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6166C477-A387-35CF-F492-F54B4FA4FEC9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Comercial por vendedor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Escolha o período.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Compare pedidos e valores.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Confira o ticket médio.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Vendas válidas: R$ 104.250,00.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3c7ee7bf34c95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67110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C0C89EF0-BE71-8D92-BDDF-FF7D05F0AC04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Pontualidade das entregas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 entregas avaliadas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 no prazo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 com atraso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Pontualidade: 71,4%.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2c82a61ed4f0a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5031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9CAEC632-A9E6-82AB-6034-3014BC3905A0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Pedidos parados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Defina o mínimo de dias.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Localize pedidos sem mudança de situação.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Verifique o motivo com a equipe.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a451d4a6d40ca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74463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675CE1F1-F8E2-E359-8FD1-A9FA98B3A676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Análise de clientes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Selecione o período.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Observe compras e recorrência.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Consulte os clientes relevantes.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f03c3b02a4cdc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20806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270EE3B2-1325-F8E9-D276-8EA80C32ED19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Carteira de pedidos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 pedidos ativos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R$ 73.380,00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Observe a prioridade por prazo.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Localize os pedidos a concluir.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621706c2c41fd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0954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1110800D-D5E6-B48B-B335-F070B0EAA3B9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Auditoria de frete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Consulte fretes alterados.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Compare padrão e cobrança.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Confira a justificativa.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Exemplo: acréscimo total de R$ 60.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1f99d40c043d9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3948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AE060EEA-E29B-CF3D-E7B7-BE01DFE3A2D2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Auditoria de cadastro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Consulte os pedidos ativos.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Identifique campos incompletos.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Corrija o pedido de origem.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15c53bd914ff6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202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472DB7CE-501A-BBF4-0CAD-B084CE0A592C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Produção mensal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Defina o período da análise.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Confira consumo e produtividade.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Gere PDF resumido ou completo.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15df866e04f16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4672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F766E625-45F0-7FC0-7206-B9D4780D3461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Dashboard de produção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Abra a visão de produção.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Observe a situação dos serviços.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Consulte o ranking no período.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934e5df184b1f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4379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79CF87E8-8F71-04A5-6F3A-BEE8F630D5E2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Dashboard de expedição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Abra a visão de expedição.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Observe pedidos e prazos.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Consulte a operação para agir.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afedf1b0b4cf1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4696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AD74175A-4E66-87FD-D56A-AAD4D4BBF877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Dashboard comercial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Abra a visão comercial.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Consulte volume e distribuição.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Aprofunde por vendedor.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9bf1491ab4754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5202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3333750"/>
            <a:ext cx="11144250" cy="2667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Cadastros, acessos</a:t>
            </a:r>
          </a:p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 configurações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810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  ADMINISTRAÇÃO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"/>
            <a:ext cx="1028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969578991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6043A58D-60CA-DFB2-80EC-B65AE4CB9481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Clientes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Cadastre identificação e contato.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Pesquise antes de criar outro registro.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Mantenha os dados atualizados.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1926ea2d34a49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75904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E633A456-5465-3671-5B0B-A8DFBB753E5A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Funcionários e permissões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Cadastre o usuário.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Defina função e situação.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Revise os acessos da equipe.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d7c30e8bb403f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39338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4477B42F-3A06-F812-16D6-7080D8A12563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Rotas de entrega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Cadastre a rota.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Informe o frete padrão.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Selecione a rota no pedido.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93d4c8f7c4716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28803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2FFCF489-DFD6-64BD-BCB3-4D97AF36B1FB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Tipos de serviço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Cadastre o nome do serviço.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Revise os tipos disponíveis.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Use-os nos planos de corte.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e7929f18c4625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2896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4C0BC6D5-207B-F838-F994-CD836D38A6B0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Configurações da empresa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Informe os dados da empresa.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Cadastre a logo.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Salve e confira as impressões.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cc710aede406e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4515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53265AEE-4D99-0673-12C8-99EFF695690A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Limites editáveis pelo administrador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Fretes da loja: 4 por dia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Fretes do cliente: 4 por dia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Chapas de produção: 90 por dia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administrador define os valores.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d0008ee5e4e30"/>
          <a:stretch xmlns:a="http://schemas.openxmlformats.org/drawingml/2006/main"/>
        </p:blipFill>
        <p:spPr>
          <a:xfrm xmlns:a="http://schemas.openxmlformats.org/drawingml/2006/main">
            <a:off x="3638550" y="3070916"/>
            <a:ext cx="8153400" cy="13638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50881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8F0DF58B-F0CC-EE04-B3E8-87EC24B7009F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Senha e encerramento do acesso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Abra Alterar Senha.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Preencha os campos solicitados.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Use Sair ao encerrar o acesso.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60a07e1034e74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28519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3333750"/>
            <a:ext cx="11144250" cy="2667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Telas complementares</a:t>
            </a:r>
          </a:p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 roteiro de demonstração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7810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  CONSULTA E APRESENTAÇÃO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8625"/>
            <a:ext cx="1028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193672165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39F1FA4F-5E1D-6DD7-8899-DB45C4C32C6E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Cadastro separado de planos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Selecione o pedido.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Consulte a capacidade.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Cadastre ou revise o plano.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942a8c4744e5a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70562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28F55584-BE3A-83D9-FA7F-21221C333295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Cadastro separado de serviços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Localize o pedido e o plano.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Escolha o serviço.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Confira operador e situação.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0eb80f6b04710"/>
          <a:stretch xmlns:a="http://schemas.openxmlformats.org/drawingml/2006/main"/>
        </p:blipFill>
        <p:spPr>
          <a:xfrm xmlns:a="http://schemas.openxmlformats.org/drawingml/2006/main">
            <a:off x="3944122" y="1304925"/>
            <a:ext cx="7542255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29584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Tela real da versão local. Dados demonstrativos.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F1E013D6-0C4B-FE2D-855A-F1342FCB0974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1915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Painel complementar do operador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952750" cy="429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Consulte os serviços exibidos.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Localize o trabalho do operador.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Atualize conforme as permissões.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5ac472c6b438c"/>
          <a:stretch xmlns:a="http://schemas.openxmlformats.org/drawingml/2006/main"/>
        </p:blipFill>
        <p:spPr>
          <a:xfrm xmlns:a="http://schemas.openxmlformats.org/drawingml/2006/main">
            <a:off x="3798570" y="1304925"/>
            <a:ext cx="7833360" cy="4895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90580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do sistema com dados fictícios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E71E1DC6-F89D-8D69-6333-36D980A4F9DD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763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Roteiro para a reunião com a madeireira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76850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principal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Pedido 2401 e prazo prometido.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Capacidade de 18/09.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Planos de 8 e 4 chapas.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Serviços no Kanban.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53075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Conversa sobre a rotina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Expedição e entregues.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Relatório da principal dificuldade.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Limites definidos pelo administrador.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Perfis de quem usará o sistema.</a:t>
            </a:r>
          </a:p>
        </p:txBody>
      </p:sp>
    </p:spTree>
    <p:extLst>
      <p:ext uri="{BB962C8B-B14F-4D97-AF65-F5344CB8AC3E}">
        <p14:creationId xmlns:p14="http://schemas.microsoft.com/office/powerpoint/2010/main" val="796002060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19850"/>
            <a:ext cx="10287000" cy="2095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Demonstração do sistema com dados fictícios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68075" y="6410325"/>
            <a:ext cx="523875" cy="20955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fld id="{E8BECC1C-8AF1-E14F-B384-26C5966C006A}" type="slidenum">
              <a:rPr sz="9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8763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Preparação da operação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76850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Definições da madeireira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Responsáveis e perfis.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Tipos de serviço.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Rotas e fretes padrão.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Capacidade diária real.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53075" cy="3838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Primeiros registros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Clientes e pedidos de exemplo.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Conferência de planos e serviços.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Validação da entrega.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Ajuste dos limites pelo administrador.</a:t>
            </a:r>
          </a:p>
        </p:txBody>
      </p:sp>
    </p:spTree>
    <p:extLst>
      <p:ext uri="{BB962C8B-B14F-4D97-AF65-F5344CB8AC3E}">
        <p14:creationId xmlns:p14="http://schemas.microsoft.com/office/powerpoint/2010/main" val="263977195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1809750"/>
            <a:ext cx="11239500" cy="2286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rotina da sua</a:t>
            </a:r>
          </a:p>
          <a:p xmlns:a="http://schemas.openxmlformats.org/drawingml/2006/main">
            <a:pPr>
              <a:def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madeireira, visível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0050" y="4667250"/>
            <a:ext cx="10572750" cy="15621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 etapa mais precisa de controle hoje?</a:t>
            </a:r>
          </a:p>
          <a:p xmlns:a="http://schemas.openxmlformats.org/drawingml/2006/main">
            <a:r>
              <a:rPr sz="2000"/>
              <a:t/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Pedidos, produção ou entrega?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"/>
            <a:ext cx="85725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PRÓXIMA CONVERSA</a:t>
            </a:r>
          </a:p>
        </p:txBody>
      </p:sp>
    </p:spTree>
    <p:extLst>
      <p:ext uri="{BB962C8B-B14F-4D97-AF65-F5344CB8AC3E}">
        <p14:creationId xmlns:p14="http://schemas.microsoft.com/office/powerpoint/2010/main" val="102492165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2026-09-16T02:36:33.3680000Z</dcterms:created>
  <dcterms:modified xsi:type="dcterms:W3CDTF">2026-09-16T02:36:33.3680000Z</dcterms:modified>
</coreProperties>
</file>